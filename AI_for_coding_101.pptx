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5" d="100"/>
          <a:sy n="125" d="100"/>
        </p:scale>
        <p:origin x="80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Retrieval accuracy</c:v>
                </c:pt>
              </c:strCache>
            </c:strRef>
          </c:tx>
          <c:spPr>
            <a:ln w="31750" cap="flat">
              <a:solidFill>
                <a:srgbClr val="3FC1D4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Sheet1!$A$2:$A$22</c:f>
              <c:strCache>
                <c:ptCount val="21"/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100</c:v>
                </c:pt>
                <c:pt idx="1">
                  <c:v>79.311017351239116</c:v>
                </c:pt>
                <c:pt idx="2">
                  <c:v>61.206559986562368</c:v>
                </c:pt>
                <c:pt idx="3">
                  <c:v>45.626345839647037</c:v>
                </c:pt>
                <c:pt idx="4">
                  <c:v>32.50369625210763</c:v>
                </c:pt>
                <c:pt idx="5">
                  <c:v>21.7637640824031</c:v>
                </c:pt>
                <c:pt idx="6">
                  <c:v>13.320851318429968</c:v>
                </c:pt>
                <c:pt idx="7">
                  <c:v>7.0740277703696037</c:v>
                </c:pt>
                <c:pt idx="8">
                  <c:v>2.8991186547107817</c:v>
                </c:pt>
                <c:pt idx="9">
                  <c:v>0.63095734448019303</c:v>
                </c:pt>
                <c:pt idx="10">
                  <c:v>0</c:v>
                </c:pt>
                <c:pt idx="11">
                  <c:v>0.63095734448019303</c:v>
                </c:pt>
                <c:pt idx="12">
                  <c:v>2.8991186547107817</c:v>
                </c:pt>
                <c:pt idx="13">
                  <c:v>7.0740277703696037</c:v>
                </c:pt>
                <c:pt idx="14">
                  <c:v>13.320851318429968</c:v>
                </c:pt>
                <c:pt idx="15">
                  <c:v>21.7637640824031</c:v>
                </c:pt>
                <c:pt idx="16">
                  <c:v>32.50369625210763</c:v>
                </c:pt>
                <c:pt idx="17">
                  <c:v>45.626345839647037</c:v>
                </c:pt>
                <c:pt idx="18">
                  <c:v>61.206559986562368</c:v>
                </c:pt>
                <c:pt idx="19">
                  <c:v>79.311017351239116</c:v>
                </c:pt>
                <c:pt idx="20">
                  <c:v>100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F3F8-4747-B021-9EE1BD18733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232B33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232B33"/>
    </a:solidFill>
    <a:ln w="12700" cap="flat">
      <a:solidFill>
        <a:srgbClr val="363636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86570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 AI Coding</a:t>
            </a:r>
            <a:endParaRPr lang="en-US" sz="3300" dirty="0"/>
          </a:p>
          <a:p>
            <a:pPr marL="0" indent="0" algn="l">
              <a:buNone/>
            </a:pPr>
            <a:r>
              <a:rPr lang="en-US" sz="330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Operator’s 101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Advanced context engineering, architectural boundaries, and state management for autonomous coding agents.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90500" y="3657600"/>
            <a:ext cx="3200400" cy="914400"/>
          </a:xfrm>
          <a:prstGeom prst="rect">
            <a:avLst/>
          </a:prstGeom>
          <a:solidFill>
            <a:srgbClr val="1B232B"/>
          </a:solidFill>
          <a:ln w="1905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300228" y="3730752"/>
            <a:ext cx="3017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3FC1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Compiled for: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Engineers, Tech Leads, and Software Developers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457700" y="1691640"/>
            <a:ext cx="2651760" cy="2011680"/>
          </a:xfrm>
          <a:prstGeom prst="rect">
            <a:avLst/>
          </a:prstGeom>
          <a:solidFill>
            <a:srgbClr val="1B232B"/>
          </a:solidFill>
          <a:ln w="22225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4576572" y="1783080"/>
            <a:ext cx="73152" cy="73152"/>
          </a:xfrm>
          <a:prstGeom prst="ellipse">
            <a:avLst/>
          </a:prstGeom>
          <a:solidFill>
            <a:srgbClr val="3FC1D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4722876" y="1783080"/>
            <a:ext cx="73152" cy="73152"/>
          </a:xfrm>
          <a:prstGeom prst="ellipse">
            <a:avLst/>
          </a:prstGeom>
          <a:solidFill>
            <a:srgbClr val="3FC1D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4869180" y="1783080"/>
            <a:ext cx="73152" cy="73152"/>
          </a:xfrm>
          <a:prstGeom prst="ellipse">
            <a:avLst/>
          </a:prstGeom>
          <a:solidFill>
            <a:srgbClr val="3FC1D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67428" y="1965960"/>
            <a:ext cx="2468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3FC1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[SYSTEM_LOG]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Initializing autonomous coding agent v2.4.1...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3FC1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[STATUS]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Connecting to repository...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F2D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[OK]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Connection established.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3FC1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[FLOW]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Starting context analysis...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7315200" y="457200"/>
            <a:ext cx="411480" cy="411480"/>
          </a:xfrm>
          <a:prstGeom prst="rect">
            <a:avLst/>
          </a:prstGeom>
          <a:solidFill>
            <a:srgbClr val="232B33"/>
          </a:solidFill>
          <a:ln w="15875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8229600" y="457200"/>
            <a:ext cx="411480" cy="411480"/>
          </a:xfrm>
          <a:prstGeom prst="rect">
            <a:avLst/>
          </a:prstGeom>
          <a:solidFill>
            <a:srgbClr val="232B33"/>
          </a:solidFill>
          <a:ln w="15875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7315200" y="1371600"/>
            <a:ext cx="411480" cy="411480"/>
          </a:xfrm>
          <a:prstGeom prst="rect">
            <a:avLst/>
          </a:prstGeom>
          <a:solidFill>
            <a:srgbClr val="232B33"/>
          </a:solidFill>
          <a:ln w="15875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8229600" y="1371600"/>
            <a:ext cx="411480" cy="411480"/>
          </a:xfrm>
          <a:prstGeom prst="rect">
            <a:avLst/>
          </a:prstGeom>
          <a:solidFill>
            <a:srgbClr val="232B33"/>
          </a:solidFill>
          <a:ln w="15875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7315200" y="2377440"/>
            <a:ext cx="411480" cy="411480"/>
          </a:xfrm>
          <a:prstGeom prst="rect">
            <a:avLst/>
          </a:prstGeom>
          <a:solidFill>
            <a:srgbClr val="232B33"/>
          </a:solidFill>
          <a:ln w="15875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8229600" y="2377440"/>
            <a:ext cx="411480" cy="411480"/>
          </a:xfrm>
          <a:prstGeom prst="rect">
            <a:avLst/>
          </a:prstGeom>
          <a:solidFill>
            <a:srgbClr val="232B33"/>
          </a:solidFill>
          <a:ln w="15875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315200" y="3383280"/>
            <a:ext cx="411480" cy="411480"/>
          </a:xfrm>
          <a:prstGeom prst="rect">
            <a:avLst/>
          </a:prstGeom>
          <a:solidFill>
            <a:srgbClr val="232B33"/>
          </a:solidFill>
          <a:ln w="15875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8229600" y="3383280"/>
            <a:ext cx="411480" cy="411480"/>
          </a:xfrm>
          <a:prstGeom prst="rect">
            <a:avLst/>
          </a:prstGeom>
          <a:solidFill>
            <a:srgbClr val="232B33"/>
          </a:solidFill>
          <a:ln w="15875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315200" y="4297680"/>
            <a:ext cx="411480" cy="411480"/>
          </a:xfrm>
          <a:prstGeom prst="rect">
            <a:avLst/>
          </a:prstGeom>
          <a:solidFill>
            <a:srgbClr val="232B33"/>
          </a:solidFill>
          <a:ln w="15875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8229600" y="4297680"/>
            <a:ext cx="411480" cy="411480"/>
          </a:xfrm>
          <a:prstGeom prst="rect">
            <a:avLst/>
          </a:prstGeom>
          <a:solidFill>
            <a:srgbClr val="232B33"/>
          </a:solidFill>
          <a:ln w="15875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726680" y="662940"/>
            <a:ext cx="502920" cy="0"/>
          </a:xfrm>
          <a:prstGeom prst="line">
            <a:avLst/>
          </a:prstGeom>
          <a:noFill/>
          <a:ln w="12700">
            <a:solidFill>
              <a:srgbClr val="F2D750"/>
            </a:solidFill>
            <a:prstDash val="solid"/>
            <a:tailEnd type="arrow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726680" y="1577340"/>
            <a:ext cx="502920" cy="0"/>
          </a:xfrm>
          <a:prstGeom prst="line">
            <a:avLst/>
          </a:prstGeom>
          <a:noFill/>
          <a:ln w="12700">
            <a:solidFill>
              <a:srgbClr val="F2D750"/>
            </a:solidFill>
            <a:prstDash val="solid"/>
            <a:tailEnd type="arrow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726680" y="2583180"/>
            <a:ext cx="502920" cy="0"/>
          </a:xfrm>
          <a:prstGeom prst="line">
            <a:avLst/>
          </a:prstGeom>
          <a:noFill/>
          <a:ln w="12700">
            <a:solidFill>
              <a:srgbClr val="F2D750"/>
            </a:solidFill>
            <a:prstDash val="solid"/>
            <a:tailEnd type="arrow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726680" y="3589020"/>
            <a:ext cx="502920" cy="0"/>
          </a:xfrm>
          <a:prstGeom prst="line">
            <a:avLst/>
          </a:prstGeom>
          <a:noFill/>
          <a:ln w="12700">
            <a:solidFill>
              <a:srgbClr val="F2D750"/>
            </a:solidFill>
            <a:prstDash val="solid"/>
            <a:tailEnd type="arrow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7726680" y="4503420"/>
            <a:ext cx="502920" cy="0"/>
          </a:xfrm>
          <a:prstGeom prst="line">
            <a:avLst/>
          </a:prstGeom>
          <a:noFill/>
          <a:ln w="12700">
            <a:solidFill>
              <a:srgbClr val="F2D750"/>
            </a:solidFill>
            <a:prstDash val="solid"/>
            <a:tailEnd type="arrow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7516368" y="868680"/>
            <a:ext cx="0" cy="3429000"/>
          </a:xfrm>
          <a:prstGeom prst="line">
            <a:avLst/>
          </a:prstGeom>
          <a:noFill/>
          <a:ln w="12700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8229600" y="2377440"/>
            <a:ext cx="411480" cy="411480"/>
          </a:xfrm>
          <a:prstGeom prst="rect">
            <a:avLst/>
          </a:prstGeom>
          <a:solidFill>
            <a:srgbClr val="232B33"/>
          </a:solidFill>
          <a:ln w="19050">
            <a:solidFill>
              <a:srgbClr val="F0716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82296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071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14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400B7A-6143-79BE-58E0-E0D939C60935}"/>
              </a:ext>
            </a:extLst>
          </p:cNvPr>
          <p:cNvSpPr txBox="1"/>
          <p:nvPr/>
        </p:nvSpPr>
        <p:spPr>
          <a:xfrm>
            <a:off x="213360" y="4661654"/>
            <a:ext cx="797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Ed Yau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LLMs actually useful for?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4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Forget the hype. The boring enterprise use cases are the ones actually raking in the cash.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606040" cy="1691640"/>
          </a:xfrm>
          <a:prstGeom prst="rect">
            <a:avLst/>
          </a:prstGeom>
          <a:solidFill>
            <a:srgbClr val="1B232B"/>
          </a:solidFill>
          <a:ln w="12700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53312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3350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Structuring Data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85800" y="18745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raw text, images, and files, and ingest them into databases.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291840" y="1188720"/>
            <a:ext cx="2606040" cy="1691640"/>
          </a:xfrm>
          <a:prstGeom prst="rect">
            <a:avLst/>
          </a:prstGeom>
          <a:solidFill>
            <a:srgbClr val="1B232B"/>
          </a:solidFill>
          <a:ln w="12700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135331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977640" y="13350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3474720" y="18745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an LLM to do things in the world via external APIs.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080760" y="1188720"/>
            <a:ext cx="2606040" cy="1691640"/>
          </a:xfrm>
          <a:prstGeom prst="rect">
            <a:avLst/>
          </a:prstGeom>
          <a:solidFill>
            <a:srgbClr val="1B232B"/>
          </a:solidFill>
          <a:ln w="12700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1353312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766560" y="13350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Question Answering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6263640" y="18745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LLMs to external data sources to answer users' questions.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02920" y="3063240"/>
            <a:ext cx="2606040" cy="1691640"/>
          </a:xfrm>
          <a:prstGeom prst="rect">
            <a:avLst/>
          </a:prstGeom>
          <a:solidFill>
            <a:srgbClr val="1B232B"/>
          </a:solidFill>
          <a:ln w="12700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227832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88720" y="320954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Summarization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685800" y="37490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longer text and turn it into shorter text. That's it.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3291840" y="3063240"/>
            <a:ext cx="2606040" cy="1691640"/>
          </a:xfrm>
          <a:prstGeom prst="rect">
            <a:avLst/>
          </a:prstGeom>
          <a:solidFill>
            <a:srgbClr val="1B232B"/>
          </a:solidFill>
          <a:ln w="12700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4720" y="3227832"/>
            <a:ext cx="384048" cy="38404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977640" y="320954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Classification &amp; Labelling</a:t>
            </a:r>
            <a:endParaRPr lang="en-US" sz="1250" dirty="0"/>
          </a:p>
        </p:txBody>
      </p:sp>
      <p:sp>
        <p:nvSpPr>
          <p:cNvPr id="23" name="Text 16"/>
          <p:cNvSpPr/>
          <p:nvPr/>
        </p:nvSpPr>
        <p:spPr>
          <a:xfrm>
            <a:off x="3474720" y="37490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meaningful tags to files. Cheaply categorise things to make them searchable.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6080760" y="3063240"/>
            <a:ext cx="2606040" cy="1691640"/>
          </a:xfrm>
          <a:prstGeom prst="rect">
            <a:avLst/>
          </a:prstGeom>
          <a:solidFill>
            <a:srgbClr val="1B232B"/>
          </a:solidFill>
          <a:ln w="12700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640" y="3227832"/>
            <a:ext cx="384048" cy="38404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766560" y="320954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Translation</a:t>
            </a:r>
            <a:endParaRPr lang="en-US" sz="1250" dirty="0"/>
          </a:p>
        </p:txBody>
      </p:sp>
      <p:sp>
        <p:nvSpPr>
          <p:cNvPr id="27" name="Text 19"/>
          <p:cNvSpPr/>
          <p:nvPr/>
        </p:nvSpPr>
        <p:spPr>
          <a:xfrm>
            <a:off x="6263640" y="37490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are multi-lingual by design, so translation is simple.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 a new starter with no memory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9AA4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MYTH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914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2D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REALITY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840480" cy="3383280"/>
          </a:xfrm>
          <a:prstGeom prst="rect">
            <a:avLst/>
          </a:prstGeom>
          <a:solidFill>
            <a:srgbClr val="232B33"/>
          </a:solidFill>
          <a:ln w="15875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920240"/>
            <a:ext cx="1463040" cy="1463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9319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an omniscient super-developer.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754880" y="1371600"/>
            <a:ext cx="3840480" cy="3383280"/>
          </a:xfrm>
          <a:prstGeom prst="rect">
            <a:avLst/>
          </a:prstGeom>
          <a:solidFill>
            <a:srgbClr val="232B33"/>
          </a:solidFill>
          <a:ln w="19050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691640"/>
            <a:ext cx="548640" cy="5486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6928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2D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STATELESS_EXECUTION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983480" y="2423160"/>
            <a:ext cx="3429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600"/>
              </a:spcAft>
              <a:buSzPct val="100000"/>
              <a:buChar char="–"/>
            </a:pPr>
            <a:r>
              <a:rPr lang="en-US" sz="125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starts completely empty.</a:t>
            </a:r>
            <a:endParaRPr lang="en-US" sz="1250" dirty="0"/>
          </a:p>
          <a:p>
            <a:pPr marL="342900" indent="-342900" algn="l">
              <a:spcAft>
                <a:spcPts val="600"/>
              </a:spcAft>
              <a:buSzPct val="100000"/>
              <a:buChar char="–"/>
            </a:pPr>
            <a:r>
              <a:rPr lang="en-US" sz="125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carries zero state forward across requests.</a:t>
            </a:r>
            <a:endParaRPr lang="en-US" sz="1250" dirty="0"/>
          </a:p>
          <a:p>
            <a:pPr marL="342900" indent="-342900" algn="l">
              <a:spcAft>
                <a:spcPts val="600"/>
              </a:spcAft>
              <a:buSzPct val="100000"/>
              <a:buChar char="–"/>
            </a:pPr>
            <a:r>
              <a:rPr lang="en-US" sz="125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engineered context, the agent is flying blind.</a:t>
            </a:r>
            <a:endParaRPr lang="en-US" sz="1250" dirty="0"/>
          </a:p>
          <a:p>
            <a:pPr marL="342900" indent="-342900" algn="l">
              <a:spcAft>
                <a:spcPts val="600"/>
              </a:spcAft>
              <a:buSzPct val="100000"/>
              <a:buChar char="–"/>
            </a:pPr>
            <a:r>
              <a:rPr lang="en-US" sz="125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agent like the guy from Memento stepping into your codebase.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3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Schema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an agentic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3108960" cy="777240"/>
          </a:xfrm>
          <a:prstGeom prst="rect">
            <a:avLst/>
          </a:prstGeom>
          <a:solidFill>
            <a:srgbClr val="1B232B"/>
          </a:solidFill>
          <a:ln w="22225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77240" y="14447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FC1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ENVIRONMENT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749040" y="1755648"/>
            <a:ext cx="365760" cy="0"/>
          </a:xfrm>
          <a:prstGeom prst="line">
            <a:avLst/>
          </a:prstGeom>
          <a:noFill/>
          <a:ln w="15875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206240" y="1325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FC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Environment (The World)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06240" y="1700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Filesystem, Terminal, External APIs.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331720"/>
            <a:ext cx="3108960" cy="777240"/>
          </a:xfrm>
          <a:prstGeom prst="rect">
            <a:avLst/>
          </a:prstGeom>
          <a:solidFill>
            <a:srgbClr val="1B232B"/>
          </a:solidFill>
          <a:ln w="22225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777240" y="24048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2D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HARNESS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749040" y="2715768"/>
            <a:ext cx="365760" cy="0"/>
          </a:xfrm>
          <a:prstGeom prst="line">
            <a:avLst/>
          </a:prstGeom>
          <a:noFill/>
          <a:ln w="15875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206240" y="2286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D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Harness (Execution Engine)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206240" y="266090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Prompt, Context Window, Tools, Hooks.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291840"/>
            <a:ext cx="3108960" cy="777240"/>
          </a:xfrm>
          <a:prstGeom prst="rect">
            <a:avLst/>
          </a:prstGeom>
          <a:solidFill>
            <a:srgbClr val="1B232B"/>
          </a:solidFill>
          <a:ln w="22225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777240" y="33649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9AA4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749040" y="3675888"/>
            <a:ext cx="365760" cy="0"/>
          </a:xfrm>
          <a:prstGeom prst="line">
            <a:avLst/>
          </a:prstGeom>
          <a:noFill/>
          <a:ln w="15875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206240" y="32461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AA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(Stateless Parameters)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206240" y="362102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Does next-token prediction and nothing else. Frozen at training.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377440" y="25146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2D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194560" y="2148840"/>
            <a:ext cx="0" cy="182880"/>
          </a:xfrm>
          <a:prstGeom prst="line">
            <a:avLst/>
          </a:prstGeom>
          <a:noFill/>
          <a:ln w="12700">
            <a:solidFill>
              <a:srgbClr val="3FC1D4"/>
            </a:solidFill>
            <a:prstDash val="dash"/>
            <a:headEnd type="arrow"/>
            <a:tailEnd type="arrow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2194560" y="3108960"/>
            <a:ext cx="0" cy="182880"/>
          </a:xfrm>
          <a:prstGeom prst="line">
            <a:avLst/>
          </a:prstGeom>
          <a:noFill/>
          <a:ln w="12700">
            <a:solidFill>
              <a:srgbClr val="3FC1D4"/>
            </a:solidFill>
            <a:prstDash val="dash"/>
            <a:headEnd type="arrow"/>
            <a:tailEnd type="arrow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937760" y="4114800"/>
            <a:ext cx="3749040" cy="777240"/>
          </a:xfrm>
          <a:prstGeom prst="rect">
            <a:avLst/>
          </a:prstGeom>
          <a:solidFill>
            <a:srgbClr val="1B232B"/>
          </a:solidFill>
          <a:ln w="15875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5047488" y="4169664"/>
            <a:ext cx="35295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itself cannot do anything agentic. The </a:t>
            </a:r>
            <a:r>
              <a:rPr lang="en-US" sz="1050" dirty="0">
                <a:solidFill>
                  <a:srgbClr val="F2D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harness</a:t>
            </a:r>
            <a:r>
              <a:rPr lang="en-US" sz="105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turns raw text prediction into an operator capable of perceiving and acting upon your filesystem.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3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Schema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finite surface area of machine perception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13258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prompt, user messages, tool results (Loaded by harness)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931920" y="1325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Model-generated responses (Compute-heavy)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92240" y="12801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0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LIMIT BOUNDARY</a:t>
            </a:r>
            <a:endParaRPr lang="en-US" sz="125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e.g., Claude Haiku 4.5 at 200k, Gemini 2.5 Pro at 2M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914400" y="1874520"/>
            <a:ext cx="0" cy="502920"/>
          </a:xfrm>
          <a:prstGeom prst="line">
            <a:avLst/>
          </a:prstGeom>
          <a:noFill/>
          <a:ln w="12700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4023360" y="1874520"/>
            <a:ext cx="0" cy="502920"/>
          </a:xfrm>
          <a:prstGeom prst="line">
            <a:avLst/>
          </a:prstGeom>
          <a:noFill/>
          <a:ln w="12700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8503920" y="1920240"/>
            <a:ext cx="0" cy="411480"/>
          </a:xfrm>
          <a:prstGeom prst="line">
            <a:avLst/>
          </a:prstGeom>
          <a:noFill/>
          <a:ln w="19050">
            <a:solidFill>
              <a:srgbClr val="C9352B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2926080" cy="640080"/>
          </a:xfrm>
          <a:prstGeom prst="rect">
            <a:avLst/>
          </a:prstGeom>
          <a:solidFill>
            <a:srgbClr val="F2D75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48640" y="2377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3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[INPUT_TOKENS]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474720" y="2377440"/>
            <a:ext cx="4846320" cy="640080"/>
          </a:xfrm>
          <a:prstGeom prst="rect">
            <a:avLst/>
          </a:prstGeom>
          <a:solidFill>
            <a:srgbClr val="F0716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474720" y="23774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3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[OUTPUT_TOKENS]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430768" y="2240280"/>
            <a:ext cx="118872" cy="914400"/>
          </a:xfrm>
          <a:prstGeom prst="rect">
            <a:avLst/>
          </a:prstGeom>
          <a:solidFill>
            <a:srgbClr val="C9352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548640" y="3520440"/>
            <a:ext cx="4023360" cy="1234440"/>
          </a:xfrm>
          <a:prstGeom prst="rect">
            <a:avLst/>
          </a:prstGeom>
          <a:solidFill>
            <a:srgbClr val="232B33"/>
          </a:solidFill>
          <a:ln w="12700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731520" y="361188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450" dirty="0">
                <a:solidFill>
                  <a:srgbClr val="F2D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</a:t>
            </a:r>
            <a:r>
              <a:rPr lang="en-US" sz="145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entire set of input and output tokens the LLM sees on a single provider request.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4572000" y="3520440"/>
            <a:ext cx="4023360" cy="1234440"/>
          </a:xfrm>
          <a:prstGeom prst="rect">
            <a:avLst/>
          </a:prstGeom>
          <a:solidFill>
            <a:srgbClr val="232B33"/>
          </a:solidFill>
          <a:ln w="12700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754880" y="361188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token limit is hit, the agent abruptly halts. No exceptions.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attention degradation U-curve</a:t>
            </a:r>
            <a:endParaRPr lang="en-US" sz="26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822960" y="868680"/>
          <a:ext cx="786384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 1"/>
          <p:cNvSpPr/>
          <p:nvPr/>
        </p:nvSpPr>
        <p:spPr>
          <a:xfrm rot="16200000">
            <a:off x="-777240" y="1874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AA4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Quality / Retrieval Accuracy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1554480" y="1051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Smart Zone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(Primacy Bias: System rules)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394960" y="1051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Smart Zone</a:t>
            </a:r>
            <a:endParaRPr lang="en-US" sz="1050" dirty="0"/>
          </a:p>
          <a:p>
            <a:pPr marL="0" indent="0" algn="r">
              <a:buNone/>
            </a:pPr>
            <a:r>
              <a:rPr lang="en-US" sz="10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(Recency Bias: Latest message)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3657600" y="18288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Dumb Zone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2103120"/>
            <a:ext cx="0" cy="320040"/>
          </a:xfrm>
          <a:prstGeom prst="line">
            <a:avLst/>
          </a:prstGeom>
          <a:noFill/>
          <a:ln w="12700">
            <a:solidFill>
              <a:srgbClr val="F2EFE6"/>
            </a:solidFill>
            <a:prstDash val="solid"/>
            <a:tailEnd type="arrow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6"/>
          <p:cNvSpPr/>
          <p:nvPr/>
        </p:nvSpPr>
        <p:spPr>
          <a:xfrm>
            <a:off x="822960" y="31546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 in Conversation (Start -&gt; Middle -&gt; End)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02920" y="3703320"/>
            <a:ext cx="2651760" cy="1143000"/>
          </a:xfrm>
          <a:prstGeom prst="rect">
            <a:avLst/>
          </a:prstGeom>
          <a:solidFill>
            <a:srgbClr val="232B33"/>
          </a:solidFill>
          <a:ln w="12700">
            <a:solidFill>
              <a:srgbClr val="9AA4AC"/>
            </a:solidFill>
            <a:prstDash val="sysDash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640080" y="379476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Needle in a Haystack Problem:</a:t>
            </a:r>
            <a:r>
              <a:rPr lang="en-US" sz="10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As context grows, each token's attention budget dilutes across competitors.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91840" y="3703320"/>
            <a:ext cx="2651760" cy="1143000"/>
          </a:xfrm>
          <a:prstGeom prst="rect">
            <a:avLst/>
          </a:prstGeom>
          <a:solidFill>
            <a:srgbClr val="232B33"/>
          </a:solidFill>
          <a:ln w="12700">
            <a:solidFill>
              <a:srgbClr val="9AA4AC"/>
            </a:solidFill>
            <a:prstDash val="sysDash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/>
          <p:nvPr/>
        </p:nvSpPr>
        <p:spPr>
          <a:xfrm>
            <a:off x="3429000" y="379476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Llama 3's 10M token window</a:t>
            </a:r>
            <a:r>
              <a:rPr lang="en-US" sz="10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proves bigger isn't always better: bloated contexts guarantee deprioritized mid-session logic.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080760" y="3703320"/>
            <a:ext cx="2651760" cy="1143000"/>
          </a:xfrm>
          <a:prstGeom prst="rect">
            <a:avLst/>
          </a:prstGeom>
          <a:solidFill>
            <a:srgbClr val="232B33"/>
          </a:solidFill>
          <a:ln w="12700">
            <a:solidFill>
              <a:srgbClr val="9AA4AC"/>
            </a:solidFill>
            <a:prstDash val="sysDash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2"/>
          <p:cNvSpPr/>
          <p:nvPr/>
        </p:nvSpPr>
        <p:spPr>
          <a:xfrm>
            <a:off x="6217920" y="379476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agent gets sloppy, forgetful, and makes mistakes the longer a session runs.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state management protocols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2715768" cy="457200"/>
          </a:xfrm>
          <a:prstGeom prst="rect">
            <a:avLst/>
          </a:prstGeom>
          <a:solidFill>
            <a:srgbClr val="1B232B"/>
          </a:solidFill>
          <a:ln w="12700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2715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CLEARING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2715768" cy="1783080"/>
          </a:xfrm>
          <a:prstGeom prst="rect">
            <a:avLst/>
          </a:prstGeom>
          <a:solidFill>
            <a:srgbClr val="232B33"/>
          </a:solidFill>
          <a:ln w="12700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484" y="1481328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121408"/>
            <a:ext cx="2441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Wipes session history. Resets context to zero.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02920" y="3108960"/>
            <a:ext cx="2715768" cy="914400"/>
          </a:xfrm>
          <a:prstGeom prst="rect">
            <a:avLst/>
          </a:prstGeom>
          <a:solidFill>
            <a:srgbClr val="232B33"/>
          </a:solidFill>
          <a:ln w="12700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6"/>
          <p:cNvSpPr/>
          <p:nvPr/>
        </p:nvSpPr>
        <p:spPr>
          <a:xfrm>
            <a:off x="640080" y="3182112"/>
            <a:ext cx="2441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Verdict: </a:t>
            </a:r>
            <a:r>
              <a:rPr lang="en-US" sz="10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default for preventing degradation.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18688" y="868680"/>
            <a:ext cx="2715768" cy="457200"/>
          </a:xfrm>
          <a:prstGeom prst="rect">
            <a:avLst/>
          </a:prstGeom>
          <a:solidFill>
            <a:srgbClr val="1B232B"/>
          </a:solidFill>
          <a:ln w="12700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3218688" y="868680"/>
            <a:ext cx="2715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COMPACTING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218688" y="1325880"/>
            <a:ext cx="2715768" cy="1783080"/>
          </a:xfrm>
          <a:prstGeom prst="rect">
            <a:avLst/>
          </a:prstGeom>
          <a:solidFill>
            <a:srgbClr val="232B33"/>
          </a:solidFill>
          <a:ln w="12700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2252" y="1481328"/>
            <a:ext cx="548640" cy="5486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355848" y="2121408"/>
            <a:ext cx="2441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auto-summarizes history to seed a fresh session. Trades high fidelity for context headroom.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18688" y="3108960"/>
            <a:ext cx="2715768" cy="914400"/>
          </a:xfrm>
          <a:prstGeom prst="rect">
            <a:avLst/>
          </a:prstGeom>
          <a:solidFill>
            <a:srgbClr val="232B33"/>
          </a:solidFill>
          <a:ln w="12700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2"/>
          <p:cNvSpPr/>
          <p:nvPr/>
        </p:nvSpPr>
        <p:spPr>
          <a:xfrm>
            <a:off x="3355848" y="3182112"/>
            <a:ext cx="2441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Cost: </a:t>
            </a:r>
            <a:r>
              <a:rPr lang="en-US" sz="10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Spends tokens and time (e.g., 1 minute summary generation).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934456" y="868680"/>
            <a:ext cx="2715768" cy="457200"/>
          </a:xfrm>
          <a:prstGeom prst="rect">
            <a:avLst/>
          </a:prstGeom>
          <a:solidFill>
            <a:srgbClr val="1B232B"/>
          </a:solidFill>
          <a:ln w="12700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4"/>
          <p:cNvSpPr/>
          <p:nvPr/>
        </p:nvSpPr>
        <p:spPr>
          <a:xfrm>
            <a:off x="5934456" y="868680"/>
            <a:ext cx="2715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HANDOFFS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5934456" y="1325880"/>
            <a:ext cx="2715768" cy="1783080"/>
          </a:xfrm>
          <a:prstGeom prst="rect">
            <a:avLst/>
          </a:prstGeom>
          <a:solidFill>
            <a:srgbClr val="232B33"/>
          </a:solidFill>
          <a:ln w="12700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8020" y="1481328"/>
            <a:ext cx="548640" cy="54864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071616" y="2121408"/>
            <a:ext cx="2441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session writes a specific artifact (a “Ticket”) to be read by a completely new session.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5934456" y="3108960"/>
            <a:ext cx="2715768" cy="914400"/>
          </a:xfrm>
          <a:prstGeom prst="rect">
            <a:avLst/>
          </a:prstGeom>
          <a:solidFill>
            <a:srgbClr val="232B33"/>
          </a:solidFill>
          <a:ln w="12700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18"/>
          <p:cNvSpPr/>
          <p:nvPr/>
        </p:nvSpPr>
        <p:spPr>
          <a:xfrm>
            <a:off x="6071616" y="3182112"/>
            <a:ext cx="2441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 Case: </a:t>
            </a:r>
            <a:r>
              <a:rPr lang="en-US" sz="10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Cross-session state transfer.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502920" y="4206240"/>
            <a:ext cx="8147304" cy="713232"/>
          </a:xfrm>
          <a:prstGeom prst="rect">
            <a:avLst/>
          </a:prstGeom>
          <a:solidFill>
            <a:srgbClr val="1B232B"/>
          </a:solidFill>
          <a:ln w="2540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0"/>
          <p:cNvSpPr/>
          <p:nvPr/>
        </p:nvSpPr>
        <p:spPr>
          <a:xfrm>
            <a:off x="685800" y="425196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need </a:t>
            </a:r>
            <a:r>
              <a:rPr lang="en-US" sz="1250" b="1" dirty="0">
                <a:solidFill>
                  <a:srgbClr val="F2D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 transparency</a:t>
            </a:r>
            <a:r>
              <a:rPr lang="en-US" sz="12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of what occupies your context window at all times. When headroom shrinks, </a:t>
            </a:r>
            <a:r>
              <a:rPr lang="en-US" sz="1250" b="1" dirty="0">
                <a:solidFill>
                  <a:srgbClr val="F2D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wipe the slate clean.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3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the agent gets lost in your codebase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FC1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 Mental Map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937760" y="822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071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AI Actually Sees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188720" y="1234440"/>
            <a:ext cx="2560320" cy="457200"/>
          </a:xfrm>
          <a:prstGeom prst="rect">
            <a:avLst/>
          </a:prstGeom>
          <a:solidFill>
            <a:srgbClr val="1B232B"/>
          </a:solidFill>
          <a:ln w="1905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1188720" y="1234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2D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[THUMBNAIL_EDITOR]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68880" y="1691640"/>
            <a:ext cx="0" cy="201168"/>
          </a:xfrm>
          <a:prstGeom prst="line">
            <a:avLst/>
          </a:prstGeom>
          <a:noFill/>
          <a:ln w="15875">
            <a:solidFill>
              <a:srgbClr val="3FC1D4"/>
            </a:solidFill>
            <a:prstDash val="solid"/>
            <a:tailEnd type="arrow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188720" y="1892808"/>
            <a:ext cx="2560320" cy="457200"/>
          </a:xfrm>
          <a:prstGeom prst="rect">
            <a:avLst/>
          </a:prstGeom>
          <a:solidFill>
            <a:srgbClr val="1B232B"/>
          </a:solidFill>
          <a:ln w="1905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188720" y="18928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2D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[AUTH_SERVICE]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468880" y="2350008"/>
            <a:ext cx="0" cy="201168"/>
          </a:xfrm>
          <a:prstGeom prst="line">
            <a:avLst/>
          </a:prstGeom>
          <a:noFill/>
          <a:ln w="15875">
            <a:solidFill>
              <a:srgbClr val="3FC1D4"/>
            </a:solidFill>
            <a:prstDash val="solid"/>
            <a:tailEnd type="arrow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188720" y="2551176"/>
            <a:ext cx="2560320" cy="457200"/>
          </a:xfrm>
          <a:prstGeom prst="rect">
            <a:avLst/>
          </a:prstGeom>
          <a:solidFill>
            <a:srgbClr val="1B232B"/>
          </a:solidFill>
          <a:ln w="1905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188720" y="255117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2D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[VIDEO_EDITOR]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468880" y="3008376"/>
            <a:ext cx="0" cy="201168"/>
          </a:xfrm>
          <a:prstGeom prst="line">
            <a:avLst/>
          </a:prstGeom>
          <a:noFill/>
          <a:ln w="15875">
            <a:solidFill>
              <a:srgbClr val="3FC1D4"/>
            </a:solidFill>
            <a:prstDash val="solid"/>
            <a:tailEnd type="arrow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188720" y="3209544"/>
            <a:ext cx="2560320" cy="457200"/>
          </a:xfrm>
          <a:prstGeom prst="rect">
            <a:avLst/>
          </a:prstGeom>
          <a:solidFill>
            <a:srgbClr val="1B232B"/>
          </a:solidFill>
          <a:ln w="1905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1188720" y="320954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2D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[CRUD_FORMS]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 flipH="1">
            <a:off x="5533387" y="2618962"/>
            <a:ext cx="1205127" cy="785304"/>
          </a:xfrm>
          <a:prstGeom prst="line">
            <a:avLst/>
          </a:prstGeom>
          <a:noFill/>
          <a:ln w="9525">
            <a:solidFill>
              <a:srgbClr val="5A646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 flipH="1">
            <a:off x="5641409" y="1624468"/>
            <a:ext cx="1628334" cy="212323"/>
          </a:xfrm>
          <a:prstGeom prst="line">
            <a:avLst/>
          </a:prstGeom>
          <a:noFill/>
          <a:ln w="9525">
            <a:solidFill>
              <a:srgbClr val="5A646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 flipH="1">
            <a:off x="6600388" y="1701408"/>
            <a:ext cx="1499591" cy="783230"/>
          </a:xfrm>
          <a:prstGeom prst="line">
            <a:avLst/>
          </a:prstGeom>
          <a:noFill/>
          <a:ln w="9525">
            <a:solidFill>
              <a:srgbClr val="5A646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 flipH="1">
            <a:off x="5533387" y="2248715"/>
            <a:ext cx="1494824" cy="1155552"/>
          </a:xfrm>
          <a:prstGeom prst="line">
            <a:avLst/>
          </a:prstGeom>
          <a:noFill/>
          <a:ln w="9525">
            <a:solidFill>
              <a:srgbClr val="5A646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 flipH="1">
            <a:off x="6943294" y="2248715"/>
            <a:ext cx="84918" cy="188701"/>
          </a:xfrm>
          <a:prstGeom prst="line">
            <a:avLst/>
          </a:prstGeom>
          <a:noFill/>
          <a:ln w="9525">
            <a:solidFill>
              <a:srgbClr val="5A646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 flipH="1">
            <a:off x="6135812" y="2618962"/>
            <a:ext cx="602701" cy="544301"/>
          </a:xfrm>
          <a:prstGeom prst="line">
            <a:avLst/>
          </a:prstGeom>
          <a:noFill/>
          <a:ln w="9525">
            <a:solidFill>
              <a:srgbClr val="5A646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 flipH="1">
            <a:off x="6135812" y="1423511"/>
            <a:ext cx="1091435" cy="1739752"/>
          </a:xfrm>
          <a:prstGeom prst="line">
            <a:avLst/>
          </a:prstGeom>
          <a:noFill/>
          <a:ln w="9525">
            <a:solidFill>
              <a:srgbClr val="5A646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5819096" y="1358064"/>
            <a:ext cx="943224" cy="456755"/>
          </a:xfrm>
          <a:prstGeom prst="line">
            <a:avLst/>
          </a:prstGeom>
          <a:noFill/>
          <a:ln w="9525">
            <a:solidFill>
              <a:srgbClr val="5A646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 flipH="1">
            <a:off x="5641409" y="1624468"/>
            <a:ext cx="1628334" cy="212323"/>
          </a:xfrm>
          <a:prstGeom prst="line">
            <a:avLst/>
          </a:prstGeom>
          <a:noFill/>
          <a:ln w="9525">
            <a:solidFill>
              <a:srgbClr val="5A646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 flipH="1">
            <a:off x="6943294" y="1423511"/>
            <a:ext cx="283953" cy="1013905"/>
          </a:xfrm>
          <a:prstGeom prst="line">
            <a:avLst/>
          </a:prstGeom>
          <a:noFill/>
          <a:ln w="9525">
            <a:solidFill>
              <a:srgbClr val="5A646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5819096" y="1358064"/>
            <a:ext cx="2232365" cy="2270908"/>
          </a:xfrm>
          <a:prstGeom prst="line">
            <a:avLst/>
          </a:prstGeom>
          <a:noFill/>
          <a:ln w="9525">
            <a:solidFill>
              <a:srgbClr val="5A646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6600388" y="2484639"/>
            <a:ext cx="1451074" cy="1144334"/>
          </a:xfrm>
          <a:prstGeom prst="line">
            <a:avLst/>
          </a:prstGeom>
          <a:noFill/>
          <a:ln w="9525">
            <a:solidFill>
              <a:srgbClr val="5A646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 flipH="1">
            <a:off x="5656887" y="1814819"/>
            <a:ext cx="1105433" cy="516361"/>
          </a:xfrm>
          <a:prstGeom prst="line">
            <a:avLst/>
          </a:prstGeom>
          <a:noFill/>
          <a:ln w="9525">
            <a:solidFill>
              <a:srgbClr val="5A646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 flipH="1">
            <a:off x="5656887" y="1701408"/>
            <a:ext cx="2443091" cy="629772"/>
          </a:xfrm>
          <a:prstGeom prst="line">
            <a:avLst/>
          </a:prstGeom>
          <a:noFill/>
          <a:ln w="9525">
            <a:solidFill>
              <a:srgbClr val="5A646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6701937" y="2582386"/>
            <a:ext cx="82296" cy="82296"/>
          </a:xfrm>
          <a:prstGeom prst="rect">
            <a:avLst/>
          </a:prstGeom>
          <a:solidFill>
            <a:srgbClr val="7E88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5604833" y="1800214"/>
            <a:ext cx="82296" cy="82296"/>
          </a:xfrm>
          <a:prstGeom prst="rect">
            <a:avLst/>
          </a:prstGeom>
          <a:solidFill>
            <a:srgbClr val="7E88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6563812" y="2448063"/>
            <a:ext cx="82296" cy="82296"/>
          </a:xfrm>
          <a:prstGeom prst="rect">
            <a:avLst/>
          </a:prstGeom>
          <a:solidFill>
            <a:srgbClr val="7E88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496811" y="3367691"/>
            <a:ext cx="82296" cy="82296"/>
          </a:xfrm>
          <a:prstGeom prst="rect">
            <a:avLst/>
          </a:prstGeom>
          <a:solidFill>
            <a:srgbClr val="7E88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991635" y="2212139"/>
            <a:ext cx="82296" cy="82296"/>
          </a:xfrm>
          <a:prstGeom prst="rect">
            <a:avLst/>
          </a:prstGeom>
          <a:solidFill>
            <a:srgbClr val="7E88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6099236" y="3126687"/>
            <a:ext cx="82296" cy="82296"/>
          </a:xfrm>
          <a:prstGeom prst="rect">
            <a:avLst/>
          </a:prstGeom>
          <a:solidFill>
            <a:srgbClr val="7E88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7190671" y="1386935"/>
            <a:ext cx="82296" cy="82296"/>
          </a:xfrm>
          <a:prstGeom prst="rect">
            <a:avLst/>
          </a:prstGeom>
          <a:solidFill>
            <a:srgbClr val="7E88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6725744" y="1778243"/>
            <a:ext cx="82296" cy="82296"/>
          </a:xfrm>
          <a:prstGeom prst="rect">
            <a:avLst/>
          </a:prstGeom>
          <a:solidFill>
            <a:srgbClr val="7E88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7233167" y="1587892"/>
            <a:ext cx="82296" cy="82296"/>
          </a:xfrm>
          <a:prstGeom prst="rect">
            <a:avLst/>
          </a:prstGeom>
          <a:solidFill>
            <a:srgbClr val="7E88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6906718" y="2400840"/>
            <a:ext cx="82296" cy="82296"/>
          </a:xfrm>
          <a:prstGeom prst="rect">
            <a:avLst/>
          </a:prstGeom>
          <a:solidFill>
            <a:srgbClr val="7E88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5782520" y="1321488"/>
            <a:ext cx="82296" cy="82296"/>
          </a:xfrm>
          <a:prstGeom prst="rect">
            <a:avLst/>
          </a:prstGeom>
          <a:solidFill>
            <a:srgbClr val="7E88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8014885" y="3592396"/>
            <a:ext cx="82296" cy="82296"/>
          </a:xfrm>
          <a:prstGeom prst="rect">
            <a:avLst/>
          </a:prstGeom>
          <a:solidFill>
            <a:srgbClr val="7E88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5620311" y="2294604"/>
            <a:ext cx="82296" cy="82296"/>
          </a:xfrm>
          <a:prstGeom prst="rect">
            <a:avLst/>
          </a:prstGeom>
          <a:solidFill>
            <a:srgbClr val="7E88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8063402" y="1664832"/>
            <a:ext cx="82296" cy="82296"/>
          </a:xfrm>
          <a:prstGeom prst="rect">
            <a:avLst/>
          </a:prstGeom>
          <a:solidFill>
            <a:srgbClr val="7E88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502920" y="3977640"/>
            <a:ext cx="8138160" cy="960120"/>
          </a:xfrm>
          <a:prstGeom prst="rect">
            <a:avLst/>
          </a:prstGeom>
          <a:solidFill>
            <a:srgbClr val="232B33"/>
          </a:solidFill>
          <a:ln w="12700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777240" y="406908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Your codebase causes AI cognitive burnout.</a:t>
            </a:r>
            <a:endParaRPr lang="en-US" sz="11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 interconnected web of shallow modules means the AI cannot confidently navigate, safely test, or receive rapid feedback loops on its changes.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3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Grey Box architectural pattern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1005840"/>
            <a:ext cx="4937760" cy="3383280"/>
          </a:xfrm>
          <a:prstGeom prst="rect">
            <a:avLst/>
          </a:prstGeom>
          <a:solidFill>
            <a:srgbClr val="232B33"/>
          </a:solidFill>
          <a:ln w="31750">
            <a:solidFill>
              <a:srgbClr val="3FC1D4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4480560" cy="411480"/>
          </a:xfrm>
          <a:prstGeom prst="rect">
            <a:avLst/>
          </a:prstGeom>
          <a:solidFill>
            <a:srgbClr val="F2D75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31520" y="11887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3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Interface (Owned by Humans / Progressive Disclosure)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600200"/>
            <a:ext cx="4480560" cy="2514600"/>
          </a:xfrm>
          <a:prstGeom prst="rect">
            <a:avLst/>
          </a:prstGeom>
          <a:solidFill>
            <a:srgbClr val="1B232B"/>
          </a:solidFill>
          <a:ln w="15875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flipH="1">
            <a:off x="1445759" y="3021344"/>
            <a:ext cx="2449959" cy="665691"/>
          </a:xfrm>
          <a:prstGeom prst="line">
            <a:avLst/>
          </a:prstGeom>
          <a:noFill/>
          <a:ln w="9525">
            <a:solidFill>
              <a:srgbClr val="4A54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 flipH="1">
            <a:off x="3394970" y="2930832"/>
            <a:ext cx="1140504" cy="947229"/>
          </a:xfrm>
          <a:prstGeom prst="line">
            <a:avLst/>
          </a:prstGeom>
          <a:noFill/>
          <a:ln w="9525">
            <a:solidFill>
              <a:srgbClr val="4A54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 flipH="1">
            <a:off x="1445759" y="2433802"/>
            <a:ext cx="1159476" cy="1253232"/>
          </a:xfrm>
          <a:prstGeom prst="line">
            <a:avLst/>
          </a:prstGeom>
          <a:noFill/>
          <a:ln w="9525">
            <a:solidFill>
              <a:srgbClr val="4A54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 flipH="1">
            <a:off x="1317545" y="1894253"/>
            <a:ext cx="660350" cy="938386"/>
          </a:xfrm>
          <a:prstGeom prst="line">
            <a:avLst/>
          </a:prstGeom>
          <a:noFill/>
          <a:ln w="9525">
            <a:solidFill>
              <a:srgbClr val="4A54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 flipH="1">
            <a:off x="1363939" y="2433802"/>
            <a:ext cx="1241295" cy="939823"/>
          </a:xfrm>
          <a:prstGeom prst="line">
            <a:avLst/>
          </a:prstGeom>
          <a:noFill/>
          <a:ln w="9525">
            <a:solidFill>
              <a:srgbClr val="4A54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 flipH="1">
            <a:off x="4122514" y="2930832"/>
            <a:ext cx="412960" cy="730060"/>
          </a:xfrm>
          <a:prstGeom prst="line">
            <a:avLst/>
          </a:prstGeom>
          <a:noFill/>
          <a:ln w="9525">
            <a:solidFill>
              <a:srgbClr val="4A54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 flipH="1">
            <a:off x="1363939" y="2421054"/>
            <a:ext cx="927677" cy="952571"/>
          </a:xfrm>
          <a:prstGeom prst="line">
            <a:avLst/>
          </a:prstGeom>
          <a:noFill/>
          <a:ln w="9525">
            <a:solidFill>
              <a:srgbClr val="4A54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977895" y="1894253"/>
            <a:ext cx="1789126" cy="22623"/>
          </a:xfrm>
          <a:prstGeom prst="line">
            <a:avLst/>
          </a:prstGeom>
          <a:noFill/>
          <a:ln w="9525">
            <a:solidFill>
              <a:srgbClr val="4A54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1315234" y="2096333"/>
            <a:ext cx="976382" cy="324721"/>
          </a:xfrm>
          <a:prstGeom prst="line">
            <a:avLst/>
          </a:prstGeom>
          <a:noFill/>
          <a:ln w="9525">
            <a:solidFill>
              <a:srgbClr val="4A54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 flipH="1">
            <a:off x="3394970" y="3660892"/>
            <a:ext cx="727544" cy="217168"/>
          </a:xfrm>
          <a:prstGeom prst="line">
            <a:avLst/>
          </a:prstGeom>
          <a:noFill/>
          <a:ln w="9525">
            <a:solidFill>
              <a:srgbClr val="4A54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315234" y="2096333"/>
            <a:ext cx="2580483" cy="925011"/>
          </a:xfrm>
          <a:prstGeom prst="line">
            <a:avLst/>
          </a:prstGeom>
          <a:noFill/>
          <a:ln w="9525">
            <a:solidFill>
              <a:srgbClr val="4A54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 flipH="1">
            <a:off x="1317545" y="1916876"/>
            <a:ext cx="2449476" cy="915763"/>
          </a:xfrm>
          <a:prstGeom prst="line">
            <a:avLst/>
          </a:prstGeom>
          <a:noFill/>
          <a:ln w="9525">
            <a:solidFill>
              <a:srgbClr val="4A54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554480" y="2468880"/>
            <a:ext cx="2834640" cy="731520"/>
          </a:xfrm>
          <a:prstGeom prst="rect">
            <a:avLst/>
          </a:prstGeom>
          <a:solidFill>
            <a:srgbClr val="1B232B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554480" y="24688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Implementation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(Delegated to AI)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02920" y="44805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FC1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Boundary Tests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15000" y="1005840"/>
            <a:ext cx="29718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 Modules: Lots of implementation controlled by a simple interface.</a:t>
            </a:r>
            <a:endParaRPr lang="en-US" sz="1200" dirty="0"/>
          </a:p>
          <a:p>
            <a:pPr marL="342900" indent="-342900" algn="l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file system must match the mental map. Give each module its own folder with a clear public interface.</a:t>
            </a:r>
            <a:endParaRPr lang="en-US" sz="1200" dirty="0"/>
          </a:p>
          <a:p>
            <a:pPr marL="342900" indent="-342900" algn="l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Humans design the interfaces and apply taste.</a:t>
            </a:r>
            <a:endParaRPr lang="en-US" sz="1200" dirty="0"/>
          </a:p>
          <a:p>
            <a:pPr marL="342900" indent="-342900" algn="l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owns the grey box inside. Tests keep the agent honest.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3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universal plug-and-play tooling standard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94360" y="1143000"/>
            <a:ext cx="2560320" cy="640080"/>
          </a:xfrm>
          <a:prstGeom prst="rect">
            <a:avLst/>
          </a:prstGeom>
          <a:solidFill>
            <a:srgbClr val="232B33"/>
          </a:solidFill>
          <a:ln w="1905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11430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github_server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89320" y="1143000"/>
            <a:ext cx="2560320" cy="640080"/>
          </a:xfrm>
          <a:prstGeom prst="rect">
            <a:avLst/>
          </a:prstGeom>
          <a:solidFill>
            <a:srgbClr val="232B33"/>
          </a:solidFill>
          <a:ln w="1905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89320" y="11430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local_postgres_db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3063240"/>
            <a:ext cx="2560320" cy="640080"/>
          </a:xfrm>
          <a:prstGeom prst="rect">
            <a:avLst/>
          </a:prstGeom>
          <a:solidFill>
            <a:srgbClr val="232B33"/>
          </a:solidFill>
          <a:ln w="1905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594360" y="30632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email_integration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89320" y="3063240"/>
            <a:ext cx="2560320" cy="640080"/>
          </a:xfrm>
          <a:prstGeom prst="rect">
            <a:avLst/>
          </a:prstGeom>
          <a:solidFill>
            <a:srgbClr val="232B33"/>
          </a:solidFill>
          <a:ln w="1905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5989320" y="30632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custom_enterprise_api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154680" y="1463040"/>
            <a:ext cx="594360" cy="685800"/>
          </a:xfrm>
          <a:prstGeom prst="line">
            <a:avLst/>
          </a:prstGeom>
          <a:noFill/>
          <a:ln w="5080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 flipH="1">
            <a:off x="5394960" y="1463040"/>
            <a:ext cx="594360" cy="685800"/>
          </a:xfrm>
          <a:prstGeom prst="line">
            <a:avLst/>
          </a:prstGeom>
          <a:noFill/>
          <a:ln w="5080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 flipH="1">
            <a:off x="3154680" y="2788920"/>
            <a:ext cx="594360" cy="594360"/>
          </a:xfrm>
          <a:prstGeom prst="line">
            <a:avLst/>
          </a:prstGeom>
          <a:noFill/>
          <a:ln w="5080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5394960" y="2788920"/>
            <a:ext cx="594360" cy="594360"/>
          </a:xfrm>
          <a:prstGeom prst="line">
            <a:avLst/>
          </a:prstGeom>
          <a:noFill/>
          <a:ln w="5080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3611880" y="1920240"/>
            <a:ext cx="1920240" cy="914400"/>
          </a:xfrm>
          <a:prstGeom prst="rect">
            <a:avLst/>
          </a:prstGeom>
          <a:solidFill>
            <a:srgbClr val="1B232B"/>
          </a:solidFill>
          <a:ln w="22225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3611880" y="194767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AI Harness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520440" y="2487168"/>
            <a:ext cx="2103120" cy="365760"/>
          </a:xfrm>
          <a:prstGeom prst="rect">
            <a:avLst/>
          </a:prstGeom>
          <a:solidFill>
            <a:srgbClr val="3FC1D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3520440" y="24871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MCP: The USB-C of AI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4069080"/>
            <a:ext cx="8138160" cy="868680"/>
          </a:xfrm>
          <a:prstGeom prst="rect">
            <a:avLst/>
          </a:prstGeom>
          <a:solidFill>
            <a:srgbClr val="232B33"/>
          </a:solidFill>
          <a:ln w="15875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777240" y="4142232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(Model Context Protocol) connects user-facing applications to powerful external environments.</a:t>
            </a:r>
            <a:endParaRPr lang="en-US" sz="12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allows stateful servers to expose dynamic toolsets without hardcoding integrations directly into the harness itself.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3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immediate danger of context bloat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1051560"/>
            <a:ext cx="8138160" cy="2286000"/>
          </a:xfrm>
          <a:prstGeom prst="rect">
            <a:avLst/>
          </a:prstGeom>
          <a:solidFill>
            <a:srgbClr val="1B232B"/>
          </a:solidFill>
          <a:ln w="1905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777240" y="120700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claude code context --total-limit=200000</a:t>
            </a:r>
            <a:endParaRPr lang="en-US" sz="15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1720" y="1627632"/>
            <a:ext cx="411480" cy="411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2148840"/>
            <a:ext cx="612648" cy="960120"/>
          </a:xfrm>
          <a:prstGeom prst="rect">
            <a:avLst/>
          </a:prstGeom>
          <a:solidFill>
            <a:srgbClr val="8A949C"/>
          </a:solidFill>
          <a:ln w="12700">
            <a:solidFill>
              <a:srgbClr val="1B23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731520" y="2148840"/>
            <a:ext cx="6126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1B23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8%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1B23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Prompt &amp; Global Rules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1344168" y="2148840"/>
            <a:ext cx="2304288" cy="960120"/>
          </a:xfrm>
          <a:prstGeom prst="rect">
            <a:avLst/>
          </a:prstGeom>
          <a:solidFill>
            <a:srgbClr val="F0716A"/>
          </a:solidFill>
          <a:ln w="12700">
            <a:solidFill>
              <a:srgbClr val="1B23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6"/>
          <p:cNvSpPr/>
          <p:nvPr/>
        </p:nvSpPr>
        <p:spPr>
          <a:xfrm>
            <a:off x="1344168" y="2148840"/>
            <a:ext cx="2304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3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30%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3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 Server Tools (Heavy Bloat)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648456" y="2148840"/>
            <a:ext cx="3072384" cy="960120"/>
          </a:xfrm>
          <a:prstGeom prst="rect">
            <a:avLst/>
          </a:prstGeom>
          <a:solidFill>
            <a:srgbClr val="3FC1D4"/>
          </a:solidFill>
          <a:ln w="12700">
            <a:solidFill>
              <a:srgbClr val="1B23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3648456" y="2148840"/>
            <a:ext cx="30723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3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40%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3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Messages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720840" y="2148840"/>
            <a:ext cx="1691640" cy="960120"/>
          </a:xfrm>
          <a:prstGeom prst="rect">
            <a:avLst/>
          </a:prstGeom>
          <a:solidFill>
            <a:srgbClr val="F2D750"/>
          </a:solidFill>
          <a:ln w="12700">
            <a:solidFill>
              <a:srgbClr val="1B23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/>
          <p:nvPr/>
        </p:nvSpPr>
        <p:spPr>
          <a:xfrm>
            <a:off x="6720840" y="2148840"/>
            <a:ext cx="1691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3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22%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3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Free Space (Shrinking)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0" y="3337560"/>
            <a:ext cx="0" cy="457200"/>
          </a:xfrm>
          <a:prstGeom prst="line">
            <a:avLst/>
          </a:prstGeom>
          <a:noFill/>
          <a:ln w="15875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502920" y="3794760"/>
            <a:ext cx="3931920" cy="1051560"/>
          </a:xfrm>
          <a:prstGeom prst="rect">
            <a:avLst/>
          </a:prstGeom>
          <a:solidFill>
            <a:srgbClr val="232B33"/>
          </a:solidFill>
          <a:ln w="1270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685800" y="388620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Plugging in too many MCP servers or writing massive cursor rules rapidly consumes your 'Smart Zone'.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709160" y="3794760"/>
            <a:ext cx="3931920" cy="1051560"/>
          </a:xfrm>
          <a:prstGeom prst="rect">
            <a:avLst/>
          </a:prstGeom>
          <a:solidFill>
            <a:srgbClr val="232B33"/>
          </a:solidFill>
          <a:ln w="1270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4892040" y="388620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Paranoia is healthy: a bloated context squeezes out working memory and triggers severe information retrieval failures.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3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Techniques for managing context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4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Keep the Smart Zone clear: spend tokens deliberately, not by default.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3977640" cy="1234440"/>
          </a:xfrm>
          <a:prstGeom prst="rect">
            <a:avLst/>
          </a:prstGeom>
          <a:solidFill>
            <a:srgbClr val="1B232B"/>
          </a:solidFill>
          <a:ln w="12700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53312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61288" y="1316736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5800" y="1755648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Summarize-and-reset the session before headroom runs out. Wipe the slate, keep the gist.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709160" y="1188720"/>
            <a:ext cx="3977640" cy="1234440"/>
          </a:xfrm>
          <a:prstGeom prst="rect">
            <a:avLst/>
          </a:prstGeom>
          <a:solidFill>
            <a:srgbClr val="1B232B"/>
          </a:solidFill>
          <a:ln w="12700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353312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67528" y="1316736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Subagents + handovers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892040" y="1755648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 work to fresh-context subagents; exchange information concisely via handover artifacts.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02920" y="2560320"/>
            <a:ext cx="3977640" cy="1234440"/>
          </a:xfrm>
          <a:prstGeom prst="rect">
            <a:avLst/>
          </a:prstGeom>
          <a:solidFill>
            <a:srgbClr val="1B232B"/>
          </a:solidFill>
          <a:ln w="12700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724912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61288" y="2688336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Frontier models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685800" y="3127248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large context genuinely matters, reach for frontier models with the biggest, most reliable windows.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4709160" y="2560320"/>
            <a:ext cx="3977640" cy="1234440"/>
          </a:xfrm>
          <a:prstGeom prst="rect">
            <a:avLst/>
          </a:prstGeom>
          <a:solidFill>
            <a:srgbClr val="1B232B"/>
          </a:solidFill>
          <a:ln w="12700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2724912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67528" y="2688336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RAG / graphify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4892040" y="3127248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the codebase (retrieval or code graphs) so the agent pulls only relevant snippets, reducing context overhead.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02920" y="4023360"/>
            <a:ext cx="8183880" cy="868680"/>
          </a:xfrm>
          <a:prstGeom prst="rect">
            <a:avLst/>
          </a:prstGeom>
          <a:solidFill>
            <a:srgbClr val="1B232B"/>
          </a:solidFill>
          <a:ln w="1905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4279392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234440" y="4096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FC1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 down the problem space: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1234440" y="4407408"/>
            <a:ext cx="1417320" cy="384048"/>
          </a:xfrm>
          <a:prstGeom prst="rect">
            <a:avLst/>
          </a:prstGeom>
          <a:solidFill>
            <a:srgbClr val="232B33"/>
          </a:solidFill>
          <a:ln w="15875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17"/>
          <p:cNvSpPr/>
          <p:nvPr/>
        </p:nvSpPr>
        <p:spPr>
          <a:xfrm>
            <a:off x="1234440" y="440740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D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EXPLORE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2679192" y="4599432"/>
            <a:ext cx="356616" cy="0"/>
          </a:xfrm>
          <a:prstGeom prst="line">
            <a:avLst/>
          </a:prstGeom>
          <a:noFill/>
          <a:ln w="19050">
            <a:solidFill>
              <a:srgbClr val="3FC1D4"/>
            </a:solidFill>
            <a:prstDash val="solid"/>
            <a:tailEnd type="arrow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19"/>
          <p:cNvSpPr/>
          <p:nvPr/>
        </p:nvSpPr>
        <p:spPr>
          <a:xfrm>
            <a:off x="3063240" y="4407408"/>
            <a:ext cx="1417320" cy="384048"/>
          </a:xfrm>
          <a:prstGeom prst="rect">
            <a:avLst/>
          </a:prstGeom>
          <a:solidFill>
            <a:srgbClr val="232B33"/>
          </a:solidFill>
          <a:ln w="15875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0"/>
          <p:cNvSpPr/>
          <p:nvPr/>
        </p:nvSpPr>
        <p:spPr>
          <a:xfrm>
            <a:off x="3063240" y="440740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D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4507992" y="4599432"/>
            <a:ext cx="356616" cy="0"/>
          </a:xfrm>
          <a:prstGeom prst="line">
            <a:avLst/>
          </a:prstGeom>
          <a:noFill/>
          <a:ln w="19050">
            <a:solidFill>
              <a:srgbClr val="3FC1D4"/>
            </a:solidFill>
            <a:prstDash val="solid"/>
            <a:tailEnd type="arrow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2"/>
          <p:cNvSpPr/>
          <p:nvPr/>
        </p:nvSpPr>
        <p:spPr>
          <a:xfrm>
            <a:off x="4892040" y="4407408"/>
            <a:ext cx="1417320" cy="384048"/>
          </a:xfrm>
          <a:prstGeom prst="rect">
            <a:avLst/>
          </a:prstGeom>
          <a:solidFill>
            <a:srgbClr val="232B33"/>
          </a:solidFill>
          <a:ln w="15875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3"/>
          <p:cNvSpPr/>
          <p:nvPr/>
        </p:nvSpPr>
        <p:spPr>
          <a:xfrm>
            <a:off x="4892040" y="440740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D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IMPLEMENT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6336792" y="4599432"/>
            <a:ext cx="356616" cy="0"/>
          </a:xfrm>
          <a:prstGeom prst="line">
            <a:avLst/>
          </a:prstGeom>
          <a:noFill/>
          <a:ln w="19050">
            <a:solidFill>
              <a:srgbClr val="3FC1D4"/>
            </a:solidFill>
            <a:prstDash val="solid"/>
            <a:tailEnd type="arrow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5"/>
          <p:cNvSpPr/>
          <p:nvPr/>
        </p:nvSpPr>
        <p:spPr>
          <a:xfrm>
            <a:off x="6720840" y="4407408"/>
            <a:ext cx="1417320" cy="384048"/>
          </a:xfrm>
          <a:prstGeom prst="rect">
            <a:avLst/>
          </a:prstGeom>
          <a:solidFill>
            <a:srgbClr val="232B33"/>
          </a:solidFill>
          <a:ln w="15875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26"/>
          <p:cNvSpPr/>
          <p:nvPr/>
        </p:nvSpPr>
        <p:spPr>
          <a:xfrm>
            <a:off x="6720840" y="440740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D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</a:t>
            </a:r>
            <a:endParaRPr lang="en-US" sz="1100" dirty="0"/>
          </a:p>
        </p:txBody>
      </p:sp>
      <p:sp>
        <p:nvSpPr>
          <p:cNvPr id="34" name="Text 27"/>
          <p:cNvSpPr/>
          <p:nvPr/>
        </p:nvSpPr>
        <p:spPr>
          <a:xfrm>
            <a:off x="4937760" y="4096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gets a focused context instead of one bloated session.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3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Progressive disclosure and context pointers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5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Borrowing from UI design: load only what the agent needs right now.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5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capabilities should be kept strictly out of the main context window until a context pointer pulls them in.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3886200" y="1051560"/>
            <a:ext cx="1737360" cy="777240"/>
          </a:xfrm>
          <a:prstGeom prst="rect">
            <a:avLst/>
          </a:prstGeom>
          <a:solidFill>
            <a:srgbClr val="232B33"/>
          </a:solidFill>
          <a:ln w="1905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86200" y="105156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3FC1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AGENTS.md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3FC1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(The standing brief)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23560" y="1417320"/>
            <a:ext cx="777240" cy="0"/>
          </a:xfrm>
          <a:prstGeom prst="line">
            <a:avLst/>
          </a:prstGeom>
          <a:noFill/>
          <a:ln w="15875">
            <a:solidFill>
              <a:srgbClr val="3FC1D4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6400800" y="1417320"/>
            <a:ext cx="0" cy="502920"/>
          </a:xfrm>
          <a:prstGeom prst="line">
            <a:avLst/>
          </a:prstGeom>
          <a:noFill/>
          <a:ln w="15875">
            <a:solidFill>
              <a:srgbClr val="3FC1D4"/>
            </a:solidFill>
            <a:prstDash val="dash"/>
            <a:tailEnd type="arrow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5486400" y="1920240"/>
            <a:ext cx="1920240" cy="384048"/>
          </a:xfrm>
          <a:prstGeom prst="rect">
            <a:avLst/>
          </a:prstGeom>
          <a:solidFill>
            <a:srgbClr val="1B232B"/>
          </a:solidFill>
          <a:ln w="19050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5486400" y="19202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2D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 Pointer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0" y="2304288"/>
            <a:ext cx="1920240" cy="685800"/>
          </a:xfrm>
          <a:prstGeom prst="rect">
            <a:avLst/>
          </a:prstGeom>
          <a:solidFill>
            <a:srgbClr val="1B232B"/>
          </a:solidFill>
          <a:ln w="19050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5486400" y="230428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UI standards,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see @ui-skills.md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06640" y="2651760"/>
            <a:ext cx="502920" cy="0"/>
          </a:xfrm>
          <a:prstGeom prst="line">
            <a:avLst/>
          </a:prstGeom>
          <a:noFill/>
          <a:ln w="15875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7909560" y="2651760"/>
            <a:ext cx="0" cy="594360"/>
          </a:xfrm>
          <a:prstGeom prst="line">
            <a:avLst/>
          </a:prstGeom>
          <a:noFill/>
          <a:ln w="15875">
            <a:solidFill>
              <a:srgbClr val="3FC1D4"/>
            </a:solidFill>
            <a:prstDash val="solid"/>
            <a:tailEnd type="arrow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720840" y="3246120"/>
            <a:ext cx="1920240" cy="1325880"/>
          </a:xfrm>
          <a:prstGeom prst="rect">
            <a:avLst/>
          </a:prstGeom>
          <a:solidFill>
            <a:srgbClr val="232B33"/>
          </a:solidFill>
          <a:ln w="1905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720840" y="33375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FC1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Skill/Document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 rot="21000000">
            <a:off x="6903720" y="3749040"/>
            <a:ext cx="1554480" cy="640080"/>
          </a:xfrm>
          <a:prstGeom prst="rect">
            <a:avLst/>
          </a:prstGeom>
          <a:solidFill>
            <a:srgbClr val="1B232B"/>
          </a:solidFill>
          <a:ln w="1270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 rot="21000000">
            <a:off x="6903720" y="37490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Loaded ONLY when requested by the task.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3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Establishing boundaries of trust and review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1417320" y="777240"/>
            <a:ext cx="0" cy="3429000"/>
          </a:xfrm>
          <a:prstGeom prst="line">
            <a:avLst/>
          </a:prstGeom>
          <a:noFill/>
          <a:ln w="19050">
            <a:solidFill>
              <a:srgbClr val="9AA4AC"/>
            </a:solidFill>
            <a:prstDash val="solid"/>
            <a:headEnd type="arrow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417320" y="4206240"/>
            <a:ext cx="6949440" cy="0"/>
          </a:xfrm>
          <a:prstGeom prst="line">
            <a:avLst/>
          </a:prstGeom>
          <a:noFill/>
          <a:ln w="19050">
            <a:solidFill>
              <a:srgbClr val="9AA4AC"/>
            </a:solidFill>
            <a:prstDash val="solid"/>
            <a:tailEnd type="arrow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 rot="16200000">
            <a:off x="45720" y="2240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 Involvement (Low to High)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417320" y="43159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Determinism (Low to High)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691640" y="841248"/>
            <a:ext cx="3291840" cy="1591056"/>
          </a:xfrm>
          <a:prstGeom prst="rect">
            <a:avLst/>
          </a:prstGeom>
          <a:solidFill>
            <a:srgbClr val="1B232B"/>
          </a:solidFill>
          <a:ln w="22225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856232" y="932688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2D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Automated Review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856232" y="1298448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agent reviewing another's code using a different system prompt. Non-deterministic judgment.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166360" y="841248"/>
            <a:ext cx="3291840" cy="1591056"/>
          </a:xfrm>
          <a:prstGeom prst="rect">
            <a:avLst/>
          </a:prstGeom>
          <a:solidFill>
            <a:srgbClr val="1B232B"/>
          </a:solidFill>
          <a:ln w="22225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330952" y="932688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2D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Human-in-the-Loop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330952" y="1298448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Real-time pairing, reviewing, and redirecting. High trust via manual oversight.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691640" y="2542032"/>
            <a:ext cx="3291840" cy="1591056"/>
          </a:xfrm>
          <a:prstGeom prst="rect">
            <a:avLst/>
          </a:prstGeom>
          <a:solidFill>
            <a:srgbClr val="1B232B"/>
          </a:solidFill>
          <a:ln w="22225">
            <a:solidFill>
              <a:srgbClr val="F0716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856232" y="263347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071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Vibe Coding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856232" y="2999232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Accepting AI output without human review of the diff. Requires flawless Grey Box boundaries.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166360" y="2542032"/>
            <a:ext cx="3291840" cy="1591056"/>
          </a:xfrm>
          <a:prstGeom prst="rect">
            <a:avLst/>
          </a:prstGeom>
          <a:solidFill>
            <a:srgbClr val="1B232B"/>
          </a:solidFill>
          <a:ln w="22225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5330952" y="263347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2D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AFK (Away From Keyboard)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330952" y="2999232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Unattended execution bound by strict deterministic automated checks (tests, lints).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working pattern based on the maturity of your feedback loops and the depth of your modules.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Stripping away the buzzwords: It's all prompt engineering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RAG:</a:t>
            </a:r>
            <a:r>
              <a:rPr lang="en-US" sz="11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Fetch external info -&gt; Insert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6035040" cy="0"/>
          </a:xfrm>
          <a:prstGeom prst="line">
            <a:avLst/>
          </a:prstGeom>
          <a:noFill/>
          <a:ln w="1905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6537960" y="1481328"/>
            <a:ext cx="0" cy="411480"/>
          </a:xfrm>
          <a:prstGeom prst="line">
            <a:avLst/>
          </a:prstGeom>
          <a:noFill/>
          <a:ln w="1905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6537960" y="1892808"/>
            <a:ext cx="411480" cy="0"/>
          </a:xfrm>
          <a:prstGeom prst="line">
            <a:avLst/>
          </a:prstGeom>
          <a:noFill/>
          <a:ln w="19050">
            <a:solidFill>
              <a:srgbClr val="3FC1D4"/>
            </a:solidFill>
            <a:prstDash val="solid"/>
            <a:tailEnd type="arrow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502920" y="1581912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Calling:</a:t>
            </a:r>
            <a:r>
              <a:rPr lang="en-US" sz="11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Provide action menu -&gt; Model selects -&gt; Execute -&gt; Insert result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6035040" cy="0"/>
          </a:xfrm>
          <a:prstGeom prst="line">
            <a:avLst/>
          </a:prstGeom>
          <a:noFill/>
          <a:ln w="1905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6537960" y="2103120"/>
            <a:ext cx="0" cy="9144"/>
          </a:xfrm>
          <a:prstGeom prst="line">
            <a:avLst/>
          </a:prstGeom>
          <a:noFill/>
          <a:ln w="1905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6537960" y="2112264"/>
            <a:ext cx="411480" cy="0"/>
          </a:xfrm>
          <a:prstGeom prst="line">
            <a:avLst/>
          </a:prstGeom>
          <a:noFill/>
          <a:ln w="19050">
            <a:solidFill>
              <a:srgbClr val="3FC1D4"/>
            </a:solidFill>
            <a:prstDash val="solid"/>
            <a:tailEnd type="arrow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02920" y="2203704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Structured Outputs:</a:t>
            </a:r>
            <a:r>
              <a:rPr lang="en-US" sz="11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Request specific JSON shape -&gt; Insert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2724912"/>
            <a:ext cx="6035040" cy="0"/>
          </a:xfrm>
          <a:prstGeom prst="line">
            <a:avLst/>
          </a:prstGeom>
          <a:noFill/>
          <a:ln w="1905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537960" y="2331720"/>
            <a:ext cx="0" cy="393192"/>
          </a:xfrm>
          <a:prstGeom prst="line">
            <a:avLst/>
          </a:prstGeom>
          <a:noFill/>
          <a:ln w="1905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537960" y="2331720"/>
            <a:ext cx="411480" cy="0"/>
          </a:xfrm>
          <a:prstGeom prst="line">
            <a:avLst/>
          </a:prstGeom>
          <a:noFill/>
          <a:ln w="19050">
            <a:solidFill>
              <a:srgbClr val="3FC1D4"/>
            </a:solidFill>
            <a:prstDash val="solid"/>
            <a:tailEnd type="arrow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02920" y="2825496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Workflows:</a:t>
            </a:r>
            <a:r>
              <a:rPr lang="en-US" sz="11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Multi-step chained prompts with hard-coded stopping points.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346704"/>
            <a:ext cx="6035040" cy="0"/>
          </a:xfrm>
          <a:prstGeom prst="line">
            <a:avLst/>
          </a:prstGeom>
          <a:noFill/>
          <a:ln w="1905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6537960" y="2551176"/>
            <a:ext cx="0" cy="795528"/>
          </a:xfrm>
          <a:prstGeom prst="line">
            <a:avLst/>
          </a:prstGeom>
          <a:noFill/>
          <a:ln w="1905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537960" y="2551176"/>
            <a:ext cx="411480" cy="0"/>
          </a:xfrm>
          <a:prstGeom prst="line">
            <a:avLst/>
          </a:prstGeom>
          <a:noFill/>
          <a:ln w="19050">
            <a:solidFill>
              <a:srgbClr val="3FC1D4"/>
            </a:solidFill>
            <a:prstDash val="solid"/>
            <a:tailEnd type="arrow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02920" y="3447288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Agentic Loops:</a:t>
            </a:r>
            <a:r>
              <a:rPr lang="en-US" sz="11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Tools + Prompts where the LLM dynamically decides when to halt.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3968496"/>
            <a:ext cx="6035040" cy="0"/>
          </a:xfrm>
          <a:prstGeom prst="line">
            <a:avLst/>
          </a:prstGeom>
          <a:noFill/>
          <a:ln w="1905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6537960" y="2770632"/>
            <a:ext cx="0" cy="1197864"/>
          </a:xfrm>
          <a:prstGeom prst="line">
            <a:avLst/>
          </a:prstGeom>
          <a:noFill/>
          <a:ln w="1905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537960" y="2770632"/>
            <a:ext cx="411480" cy="0"/>
          </a:xfrm>
          <a:prstGeom prst="line">
            <a:avLst/>
          </a:prstGeom>
          <a:noFill/>
          <a:ln w="19050">
            <a:solidFill>
              <a:srgbClr val="3FC1D4"/>
            </a:solidFill>
            <a:prstDash val="solid"/>
            <a:tailEnd type="arrow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6949440" y="1645920"/>
            <a:ext cx="1737360" cy="1554480"/>
          </a:xfrm>
          <a:prstGeom prst="rect">
            <a:avLst/>
          </a:prstGeom>
          <a:solidFill>
            <a:srgbClr val="F2D75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949440" y="164592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3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23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02920" y="406908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Beneath the hype, every advanced architecture is fundamentally just an improved technique for structuring text input to a stateless model.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3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2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staircase to optimization hell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85800" y="1005840"/>
            <a:ext cx="0" cy="3566160"/>
          </a:xfrm>
          <a:prstGeom prst="line">
            <a:avLst/>
          </a:prstGeom>
          <a:noFill/>
          <a:ln w="19050">
            <a:solidFill>
              <a:srgbClr val="F2EFE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 rot="16200000">
            <a:off x="0" y="2560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Complexity &amp; Cost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51560" y="1051560"/>
            <a:ext cx="822960" cy="0"/>
          </a:xfrm>
          <a:prstGeom prst="line">
            <a:avLst/>
          </a:prstGeom>
          <a:noFill/>
          <a:ln w="5080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874520" y="1051560"/>
            <a:ext cx="0" cy="502920"/>
          </a:xfrm>
          <a:prstGeom prst="line">
            <a:avLst/>
          </a:prstGeom>
          <a:noFill/>
          <a:ln w="5080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984248" y="9601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Zero-Shot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874520" y="1554480"/>
            <a:ext cx="822960" cy="0"/>
          </a:xfrm>
          <a:prstGeom prst="line">
            <a:avLst/>
          </a:prstGeom>
          <a:noFill/>
          <a:ln w="5080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697480" y="1554480"/>
            <a:ext cx="0" cy="502920"/>
          </a:xfrm>
          <a:prstGeom prst="line">
            <a:avLst/>
          </a:prstGeom>
          <a:noFill/>
          <a:ln w="5080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2807208" y="1463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Few-Shot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697480" y="2057400"/>
            <a:ext cx="822960" cy="0"/>
          </a:xfrm>
          <a:prstGeom prst="line">
            <a:avLst/>
          </a:prstGeom>
          <a:noFill/>
          <a:ln w="5080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3520440" y="2057400"/>
            <a:ext cx="0" cy="502920"/>
          </a:xfrm>
          <a:prstGeom prst="line">
            <a:avLst/>
          </a:prstGeom>
          <a:noFill/>
          <a:ln w="50800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630168" y="1965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Chain of Thought / Temperature tweaking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520440" y="2560320"/>
            <a:ext cx="822960" cy="0"/>
          </a:xfrm>
          <a:prstGeom prst="line">
            <a:avLst/>
          </a:prstGeom>
          <a:noFill/>
          <a:ln w="50800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4343400" y="2560320"/>
            <a:ext cx="0" cy="502920"/>
          </a:xfrm>
          <a:prstGeom prst="line">
            <a:avLst/>
          </a:prstGeom>
          <a:noFill/>
          <a:ln w="50800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453128" y="24688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43400" y="3063240"/>
            <a:ext cx="822960" cy="0"/>
          </a:xfrm>
          <a:prstGeom prst="line">
            <a:avLst/>
          </a:prstGeom>
          <a:noFill/>
          <a:ln w="50800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5166360" y="3063240"/>
            <a:ext cx="0" cy="502920"/>
          </a:xfrm>
          <a:prstGeom prst="line">
            <a:avLst/>
          </a:prstGeom>
          <a:noFill/>
          <a:ln w="50800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276088" y="29718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Evaluators / Agentic Loops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166360" y="3566160"/>
            <a:ext cx="822960" cy="0"/>
          </a:xfrm>
          <a:prstGeom prst="line">
            <a:avLst/>
          </a:prstGeom>
          <a:noFill/>
          <a:ln w="50800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5989320" y="3566160"/>
            <a:ext cx="0" cy="502920"/>
          </a:xfrm>
          <a:prstGeom prst="line">
            <a:avLst/>
          </a:prstGeom>
          <a:noFill/>
          <a:ln w="50800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6099048" y="3474720"/>
            <a:ext cx="2724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Routers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989320" y="4069080"/>
            <a:ext cx="822960" cy="0"/>
          </a:xfrm>
          <a:prstGeom prst="line">
            <a:avLst/>
          </a:prstGeom>
          <a:noFill/>
          <a:ln w="50800">
            <a:solidFill>
              <a:srgbClr val="F0716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922008" y="3977640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Fine-Tuning &amp; Advanced Sampling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51560" y="2880360"/>
            <a:ext cx="3291840" cy="1965960"/>
          </a:xfrm>
          <a:prstGeom prst="rect">
            <a:avLst/>
          </a:prstGeom>
          <a:solidFill>
            <a:srgbClr val="1B232B"/>
          </a:solidFill>
          <a:ln w="12700">
            <a:solidFill>
              <a:srgbClr val="9AA4A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234440" y="301752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Building a new feature? Start at the top step.</a:t>
            </a:r>
            <a:endParaRPr lang="en-US" sz="1050" dirty="0"/>
          </a:p>
          <a:p>
            <a:pPr marL="342900" indent="-342900" algn="l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engineering is experimental and probabilistic. Most experiments fail.</a:t>
            </a:r>
            <a:endParaRPr lang="en-US" sz="1050" dirty="0"/>
          </a:p>
          <a:p>
            <a:pPr marL="342900" indent="-342900" algn="l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not descend to fine-tuning until basic contextual framing has been exhausted.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3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Evals are the new unit tests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1691640" y="1097280"/>
            <a:ext cx="1554480" cy="685800"/>
          </a:xfrm>
          <a:prstGeom prst="rect">
            <a:avLst/>
          </a:prstGeom>
          <a:solidFill>
            <a:srgbClr val="1B232B"/>
          </a:solidFill>
          <a:ln w="22225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1691640" y="10972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Prompt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 Model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0" y="2331720"/>
            <a:ext cx="1463040" cy="685800"/>
          </a:xfrm>
          <a:prstGeom prst="rect">
            <a:avLst/>
          </a:prstGeom>
          <a:solidFill>
            <a:srgbClr val="1B232B"/>
          </a:solidFill>
          <a:ln w="22225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200400" y="2331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1691640" y="3611880"/>
            <a:ext cx="1554480" cy="685800"/>
          </a:xfrm>
          <a:prstGeom prst="rect">
            <a:avLst/>
          </a:prstGeom>
          <a:solidFill>
            <a:srgbClr val="1B232B"/>
          </a:solidFill>
          <a:ln w="22225">
            <a:solidFill>
              <a:srgbClr val="3FC1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6916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Distribution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 Usage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0040" y="2331720"/>
            <a:ext cx="1371600" cy="685800"/>
          </a:xfrm>
          <a:prstGeom prst="rect">
            <a:avLst/>
          </a:prstGeom>
          <a:solidFill>
            <a:srgbClr val="1B232B"/>
          </a:solidFill>
          <a:ln w="22225">
            <a:solidFill>
              <a:srgbClr val="F2D7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20040" y="233172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D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017520" y="1737360"/>
            <a:ext cx="822960" cy="548640"/>
          </a:xfrm>
          <a:prstGeom prst="line">
            <a:avLst/>
          </a:prstGeom>
          <a:noFill/>
          <a:ln w="38100">
            <a:solidFill>
              <a:srgbClr val="3FC1D4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 flipH="1">
            <a:off x="2834640" y="3063240"/>
            <a:ext cx="822960" cy="502920"/>
          </a:xfrm>
          <a:prstGeom prst="line">
            <a:avLst/>
          </a:prstGeom>
          <a:noFill/>
          <a:ln w="38100">
            <a:solidFill>
              <a:srgbClr val="3FC1D4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 flipH="1" flipV="1">
            <a:off x="1188720" y="3063240"/>
            <a:ext cx="640080" cy="594360"/>
          </a:xfrm>
          <a:prstGeom prst="line">
            <a:avLst/>
          </a:prstGeom>
          <a:noFill/>
          <a:ln w="38100">
            <a:solidFill>
              <a:srgbClr val="3FC1D4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 flipV="1">
            <a:off x="1188720" y="1783080"/>
            <a:ext cx="731520" cy="502920"/>
          </a:xfrm>
          <a:prstGeom prst="line">
            <a:avLst/>
          </a:prstGeom>
          <a:noFill/>
          <a:ln w="38100">
            <a:solidFill>
              <a:srgbClr val="3FC1D4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2377440"/>
            <a:ext cx="640080" cy="64008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5120640" y="1325880"/>
            <a:ext cx="3566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 algn="l">
              <a:spcAft>
                <a:spcPts val="1200"/>
              </a:spcAft>
              <a:buSzPct val="100000"/>
              <a:buChar char="–"/>
            </a:pPr>
            <a:r>
              <a:rPr lang="en-US" sz="13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first version of every AI app sucks.</a:t>
            </a:r>
            <a:endParaRPr lang="en-US" sz="1350" dirty="0"/>
          </a:p>
          <a:p>
            <a:pPr marL="342900" indent="-342900" algn="l">
              <a:spcAft>
                <a:spcPts val="1200"/>
              </a:spcAft>
              <a:buSzPct val="100000"/>
              <a:buChar char="–"/>
            </a:pPr>
            <a:r>
              <a:rPr lang="en-US" sz="13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Without deterministic evaluation loops, you are flying blind against attention degradation and model drift.</a:t>
            </a:r>
            <a:endParaRPr lang="en-US" sz="1350" dirty="0"/>
          </a:p>
          <a:p>
            <a:pPr marL="342900" indent="-342900" algn="l">
              <a:spcAft>
                <a:spcPts val="1200"/>
              </a:spcAft>
              <a:buSzPct val="100000"/>
              <a:buChar char="–"/>
            </a:pPr>
            <a:r>
              <a:rPr lang="en-US" sz="1350" dirty="0">
                <a:solidFill>
                  <a:srgbClr val="F2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you can't measure it programmatically, you haven't engineered it.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1413</Words>
  <Application>Microsoft Office PowerPoint</Application>
  <PresentationFormat>On-screen Show (16:9)</PresentationFormat>
  <Paragraphs>209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Coding Operator's Manual</dc:title>
  <dc:subject>PptxGenJS Presentation</dc:subject>
  <dc:creator>PptxGenJS</dc:creator>
  <cp:lastModifiedBy>Ed Yau</cp:lastModifiedBy>
  <cp:revision>2</cp:revision>
  <dcterms:created xsi:type="dcterms:W3CDTF">2026-06-07T14:19:22Z</dcterms:created>
  <dcterms:modified xsi:type="dcterms:W3CDTF">2026-06-07T14:31:20Z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6867cdc-6a55-42b7-b43e-9ab0af6221ff_Enabled">
    <vt:lpwstr>true</vt:lpwstr>
  </property>
  <property fmtid="{D5CDD505-2E9C-101B-9397-08002B2CF9AE}" pid="3" name="MSIP_Label_f6867cdc-6a55-42b7-b43e-9ab0af6221ff_SetDate">
    <vt:lpwstr>2026-06-07T14:31:19Z</vt:lpwstr>
  </property>
  <property fmtid="{D5CDD505-2E9C-101B-9397-08002B2CF9AE}" pid="4" name="MSIP_Label_f6867cdc-6a55-42b7-b43e-9ab0af6221ff_Method">
    <vt:lpwstr>Standard</vt:lpwstr>
  </property>
  <property fmtid="{D5CDD505-2E9C-101B-9397-08002B2CF9AE}" pid="5" name="MSIP_Label_f6867cdc-6a55-42b7-b43e-9ab0af6221ff_Name">
    <vt:lpwstr>General</vt:lpwstr>
  </property>
  <property fmtid="{D5CDD505-2E9C-101B-9397-08002B2CF9AE}" pid="6" name="MSIP_Label_f6867cdc-6a55-42b7-b43e-9ab0af6221ff_SiteId">
    <vt:lpwstr>741678da-616a-4cd9-a82b-b5b4cf804f44</vt:lpwstr>
  </property>
  <property fmtid="{D5CDD505-2E9C-101B-9397-08002B2CF9AE}" pid="7" name="MSIP_Label_f6867cdc-6a55-42b7-b43e-9ab0af6221ff_ActionId">
    <vt:lpwstr>d89c622a-996b-4715-9f24-0a1ab6a14d5b</vt:lpwstr>
  </property>
  <property fmtid="{D5CDD505-2E9C-101B-9397-08002B2CF9AE}" pid="8" name="MSIP_Label_f6867cdc-6a55-42b7-b43e-9ab0af6221ff_ContentBits">
    <vt:lpwstr>0</vt:lpwstr>
  </property>
  <property fmtid="{D5CDD505-2E9C-101B-9397-08002B2CF9AE}" pid="9" name="MSIP_Label_f6867cdc-6a55-42b7-b43e-9ab0af6221ff_Tag">
    <vt:lpwstr>10, 3, 0, 1</vt:lpwstr>
  </property>
</Properties>
</file>