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Retrieval accuracy</c:v>
                </c:pt>
              </c:strCache>
            </c:strRef>
          </c:tx>
          <c:spPr>
            <a:ln w="31750" cap="flat">
              <a:solidFill>
                <a:srgbClr val="3FC1D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100</c:v>
                </c:pt>
                <c:pt idx="1">
                  <c:v>79.311017351239116</c:v>
                </c:pt>
                <c:pt idx="2">
                  <c:v>61.206559986562368</c:v>
                </c:pt>
                <c:pt idx="3">
                  <c:v>45.626345839647037</c:v>
                </c:pt>
                <c:pt idx="4">
                  <c:v>32.50369625210763</c:v>
                </c:pt>
                <c:pt idx="5">
                  <c:v>21.7637640824031</c:v>
                </c:pt>
                <c:pt idx="6">
                  <c:v>13.320851318429968</c:v>
                </c:pt>
                <c:pt idx="7">
                  <c:v>7.0740277703696037</c:v>
                </c:pt>
                <c:pt idx="8">
                  <c:v>2.8991186547107817</c:v>
                </c:pt>
                <c:pt idx="9">
                  <c:v>0.63095734448019303</c:v>
                </c:pt>
                <c:pt idx="10">
                  <c:v>0</c:v>
                </c:pt>
                <c:pt idx="11">
                  <c:v>0.63095734448019303</c:v>
                </c:pt>
                <c:pt idx="12">
                  <c:v>2.8991186547107817</c:v>
                </c:pt>
                <c:pt idx="13">
                  <c:v>7.0740277703696037</c:v>
                </c:pt>
                <c:pt idx="14">
                  <c:v>13.320851318429968</c:v>
                </c:pt>
                <c:pt idx="15">
                  <c:v>21.7637640824031</c:v>
                </c:pt>
                <c:pt idx="16">
                  <c:v>32.50369625210763</c:v>
                </c:pt>
                <c:pt idx="17">
                  <c:v>45.626345839647037</c:v>
                </c:pt>
                <c:pt idx="18">
                  <c:v>61.206559986562368</c:v>
                </c:pt>
                <c:pt idx="19">
                  <c:v>79.311017351239116</c:v>
                </c:pt>
                <c:pt idx="20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E33-4DB3-B591-E735A1104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232B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32B33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397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Coding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Operator's Manual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Advanced context engineering, architectural boundaries, and state management for autonomous coding agents.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3200400" cy="9144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66928" y="391363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 for: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Engineers, Tech Leads, and Software Developers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691640"/>
            <a:ext cx="2651760" cy="201168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416552" y="1783080"/>
            <a:ext cx="73152" cy="73152"/>
          </a:xfrm>
          <a:prstGeom prst="ellipse">
            <a:avLst/>
          </a:prstGeom>
          <a:solidFill>
            <a:srgbClr val="3FC1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62856" y="1783080"/>
            <a:ext cx="73152" cy="73152"/>
          </a:xfrm>
          <a:prstGeom prst="ellipse">
            <a:avLst/>
          </a:prstGeom>
          <a:solidFill>
            <a:srgbClr val="3FC1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73152" cy="73152"/>
          </a:xfrm>
          <a:prstGeom prst="ellipse">
            <a:avLst/>
          </a:prstGeom>
          <a:solidFill>
            <a:srgbClr val="3FC1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07408" y="19659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[SYSTEM_LOG]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Initializing autonomous coding agent v2.4.1...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[STATUS]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Connecting to repository...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Connection established.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[FLOW]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Starting context analysis...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0" y="45720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29600" y="45720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315200" y="137160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315200" y="237744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15200" y="338328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229600" y="338328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229600" y="4297680"/>
            <a:ext cx="411480" cy="411480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726680" y="662940"/>
            <a:ext cx="50292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726680" y="1577340"/>
            <a:ext cx="50292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726680" y="2583180"/>
            <a:ext cx="50292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726680" y="3589020"/>
            <a:ext cx="50292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726680" y="4503420"/>
            <a:ext cx="50292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516368" y="868680"/>
            <a:ext cx="0" cy="342900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229600" y="2377440"/>
            <a:ext cx="411480" cy="411480"/>
          </a:xfrm>
          <a:prstGeom prst="rect">
            <a:avLst/>
          </a:prstGeom>
          <a:solidFill>
            <a:srgbClr val="232B33"/>
          </a:solidFill>
          <a:ln w="19050">
            <a:solidFill>
              <a:srgbClr val="F07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2296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0A8815-80A0-0945-50BC-378661ADDA7F}"/>
              </a:ext>
            </a:extLst>
          </p:cNvPr>
          <p:cNvSpPr txBox="1"/>
          <p:nvPr/>
        </p:nvSpPr>
        <p:spPr>
          <a:xfrm>
            <a:off x="406908" y="34162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 Yau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LLMs actually useful for?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 the hype. The boring enterprise use cases are the ones actually raking in the cash.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06040" cy="16916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33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Structuring Data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raw text, images, and files, and ingest them into databases.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06040" cy="16916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533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474720" y="1874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 LLM to do things in the world via external APIs.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80760" y="1188720"/>
            <a:ext cx="2606040" cy="16916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3533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Answering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263640" y="1874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LLMs to external data sources to answer users' questions.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063240"/>
            <a:ext cx="2606040" cy="16916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2783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Summarization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8580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longer text and turn it into shorter text. That's it.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91840" y="3063240"/>
            <a:ext cx="2606040" cy="16916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2783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 &amp; Labelling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4747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meaningful tags to files. Cheaply categorise things to make them searchable.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080760" y="3063240"/>
            <a:ext cx="2606040" cy="16916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2783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Translation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26364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multi-lingual by design, so translation is simple.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new starter with no memory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383280"/>
          </a:xfrm>
          <a:prstGeom prst="rect">
            <a:avLst/>
          </a:prstGeom>
          <a:solidFill>
            <a:srgbClr val="232B33"/>
          </a:solidFill>
          <a:ln w="15875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9202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an omniscient super-developer.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840480" cy="3383280"/>
          </a:xfrm>
          <a:prstGeom prst="rect">
            <a:avLst/>
          </a:prstGeom>
          <a:solidFill>
            <a:srgbClr val="232B33"/>
          </a:solidFill>
          <a:ln w="1905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916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STATELESS_EXECUTION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242316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completely empty.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carries zero state forward across requests.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engineered context, the agent is flying blind.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agent like the guy from Memento stepping into your codebase.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agentic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108960" cy="77724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1755648"/>
            <a:ext cx="365760" cy="0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0624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C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(The World)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17007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Filesystem, Terminal, External APIs.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108960" cy="777240"/>
          </a:xfrm>
          <a:prstGeom prst="rect">
            <a:avLst/>
          </a:prstGeom>
          <a:solidFill>
            <a:srgbClr val="1B232B"/>
          </a:solidFill>
          <a:ln w="2222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2715768"/>
            <a:ext cx="365760" cy="0"/>
          </a:xfrm>
          <a:prstGeom prst="line">
            <a:avLst/>
          </a:prstGeom>
          <a:noFill/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0624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D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(Execution Engine)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2660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Prompt, Context Window, Tools, Hooks.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108960" cy="777240"/>
          </a:xfrm>
          <a:prstGeom prst="rect">
            <a:avLst/>
          </a:prstGeom>
          <a:solidFill>
            <a:srgbClr val="1B232B"/>
          </a:solidFill>
          <a:ln w="22225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724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3675888"/>
            <a:ext cx="365760" cy="0"/>
          </a:xfrm>
          <a:prstGeom prst="line">
            <a:avLst/>
          </a:prstGeom>
          <a:noFill/>
          <a:ln w="15875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20624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(Stateless Parameters)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36210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next-token prediction and nothing else. Frozen at training.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148840"/>
            <a:ext cx="0" cy="182880"/>
          </a:xfrm>
          <a:prstGeom prst="line">
            <a:avLst/>
          </a:prstGeom>
          <a:noFill/>
          <a:ln w="12700">
            <a:solidFill>
              <a:srgbClr val="3FC1D4"/>
            </a:solidFill>
            <a:prstDash val="dash"/>
            <a:headEnd type="arrow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194560" y="3108960"/>
            <a:ext cx="0" cy="182880"/>
          </a:xfrm>
          <a:prstGeom prst="line">
            <a:avLst/>
          </a:prstGeom>
          <a:noFill/>
          <a:ln w="12700">
            <a:solidFill>
              <a:srgbClr val="3FC1D4"/>
            </a:solidFill>
            <a:prstDash val="dash"/>
            <a:headEnd type="arrow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37760" y="4114800"/>
            <a:ext cx="3749040" cy="777240"/>
          </a:xfrm>
          <a:prstGeom prst="rect">
            <a:avLst/>
          </a:prstGeom>
          <a:solidFill>
            <a:srgbClr val="1B232B"/>
          </a:solidFill>
          <a:ln w="1587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047488" y="4169664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cannot do anything agentic. The </a:t>
            </a:r>
            <a:r>
              <a:rPr lang="en-US" sz="105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turns raw text prediction into an operator capable of perceiving and acting upon your filesystem.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finite surface area of machine perception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user messages, tool results (Loaded by harness)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93192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Model-generated responses (Compute-heavy)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0" y="1280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BOUNDARY</a:t>
            </a:r>
            <a:endParaRPr lang="en-US" sz="125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e.g., Claude Haiku 4.5 at 200k, Gemini 2.5 Pro at 2M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0" cy="502920"/>
          </a:xfrm>
          <a:prstGeom prst="line">
            <a:avLst/>
          </a:prstGeom>
          <a:noFill/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023360" y="1874520"/>
            <a:ext cx="0" cy="502920"/>
          </a:xfrm>
          <a:prstGeom prst="line">
            <a:avLst/>
          </a:prstGeom>
          <a:noFill/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0" y="1920240"/>
            <a:ext cx="0" cy="411480"/>
          </a:xfrm>
          <a:prstGeom prst="line">
            <a:avLst/>
          </a:prstGeom>
          <a:noFill/>
          <a:ln w="19050">
            <a:solidFill>
              <a:srgbClr val="C9352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926080" cy="640080"/>
          </a:xfrm>
          <a:prstGeom prst="rect">
            <a:avLst/>
          </a:prstGeom>
          <a:solidFill>
            <a:srgbClr val="F2D7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[INPUT_TOKENS]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4846320" cy="640080"/>
          </a:xfrm>
          <a:prstGeom prst="rect">
            <a:avLst/>
          </a:prstGeom>
          <a:solidFill>
            <a:srgbClr val="F071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[OUTPUT_TOKENS]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30768" y="2240280"/>
            <a:ext cx="118872" cy="914400"/>
          </a:xfrm>
          <a:prstGeom prst="rect">
            <a:avLst/>
          </a:prstGeom>
          <a:solidFill>
            <a:srgbClr val="C935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4023360" cy="123444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50" dirty="0">
                <a:solidFill>
                  <a:srgbClr val="F2D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r>
              <a:rPr lang="en-US" sz="14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entire set of input and output tokens the LLM sees on a single provider request.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0" y="3520440"/>
            <a:ext cx="4023360" cy="123444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token limit is hit, the agent abruptly halts. No exceptions.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degradation U-curve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822960" y="868680"/>
          <a:ext cx="78638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 rot="16200000">
            <a:off x="-7772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Quality / Retrieval Accuracy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554480" y="1051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Smart Zone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(Primacy Bias: System rules)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9496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Smart Zone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(Recency Bias: Latest message)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Dumb Zone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2103120"/>
            <a:ext cx="0" cy="320040"/>
          </a:xfrm>
          <a:prstGeom prst="line">
            <a:avLst/>
          </a:prstGeom>
          <a:noFill/>
          <a:ln w="12700">
            <a:solidFill>
              <a:srgbClr val="F2EFE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in Conversation (Start -&gt; Middle -&gt; End)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703320"/>
            <a:ext cx="2651760" cy="114300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Needle in a Haystack Problem:</a:t>
            </a: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context grows, each token's attention budget dilutes across competitors.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2651760" cy="114300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429000" y="3794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3's 10M token window</a:t>
            </a: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proves bigger isn't always better: bloated contexts guarantee deprioritized mid-session logic.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3703320"/>
            <a:ext cx="2651760" cy="114300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217920" y="3794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agent gets sloppy, forgetful, and makes mistakes the longer a session runs.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management protocols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2715768" cy="45720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715768" cy="178308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484" y="14813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21408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session history. Resets context to zero.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108960"/>
            <a:ext cx="2715768" cy="91440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40080" y="318211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</a:t>
            </a: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default for preventing degradation.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18688" y="868680"/>
            <a:ext cx="2715768" cy="45720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218688" y="8686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18688" y="1325880"/>
            <a:ext cx="2715768" cy="178308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52" y="1481328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2121408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auto-summarizes history to seed a fresh session. Trades high fidelity for context headroom.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18688" y="3108960"/>
            <a:ext cx="2715768" cy="91440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3355848" y="318211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</a:t>
            </a: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 tokens and time (e.g., 1 minute summary generation).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34456" y="868680"/>
            <a:ext cx="2715768" cy="45720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5934456" y="8686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934456" y="1325880"/>
            <a:ext cx="2715768" cy="178308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020" y="148132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71616" y="2121408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 writes a specific artifact (a “Ticket”) to be read by a completely new session.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34456" y="3108960"/>
            <a:ext cx="2715768" cy="91440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6071616" y="318211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Case: </a:t>
            </a: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Cross-session state transfer.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2920" y="4206240"/>
            <a:ext cx="8147304" cy="713232"/>
          </a:xfrm>
          <a:prstGeom prst="rect">
            <a:avLst/>
          </a:prstGeom>
          <a:solidFill>
            <a:srgbClr val="1B232B"/>
          </a:solidFill>
          <a:ln w="254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685800" y="42519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need </a:t>
            </a:r>
            <a:r>
              <a:rPr lang="en-US" sz="12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transparency</a:t>
            </a:r>
            <a:r>
              <a:rPr lang="en-US" sz="12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of what occupies your context window at all times. When headroom shrinks, </a:t>
            </a:r>
            <a:r>
              <a:rPr lang="en-US" sz="12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wipe the slate clean.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agent gets lost in your codebase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Mental Map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93776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AI Actually Sees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2560320" cy="4572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[THUMBNAIL_EDITOR]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691640"/>
            <a:ext cx="0" cy="201168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88720" y="1892808"/>
            <a:ext cx="2560320" cy="4572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88720" y="1892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[AUTH_SERVICE]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350008"/>
            <a:ext cx="0" cy="201168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88720" y="2551176"/>
            <a:ext cx="2560320" cy="4572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88720" y="25511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[VIDEO_EDITOR]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3008376"/>
            <a:ext cx="0" cy="201168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188720" y="3209544"/>
            <a:ext cx="2560320" cy="4572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8872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[CRUD_FORMS]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5533387" y="2618962"/>
            <a:ext cx="1205127" cy="785304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H="1">
            <a:off x="5641409" y="1624468"/>
            <a:ext cx="1628334" cy="212323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 flipH="1">
            <a:off x="6600388" y="1701408"/>
            <a:ext cx="1499591" cy="783230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 flipH="1">
            <a:off x="5533387" y="2248715"/>
            <a:ext cx="1494824" cy="1155552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 flipH="1">
            <a:off x="6943294" y="2248715"/>
            <a:ext cx="84918" cy="188701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 flipH="1">
            <a:off x="6135812" y="2618962"/>
            <a:ext cx="602701" cy="544301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 flipH="1">
            <a:off x="6135812" y="1423511"/>
            <a:ext cx="1091435" cy="1739752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819096" y="1358064"/>
            <a:ext cx="943224" cy="456755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 flipH="1">
            <a:off x="5641409" y="1624468"/>
            <a:ext cx="1628334" cy="212323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 flipH="1">
            <a:off x="6943294" y="1423511"/>
            <a:ext cx="283953" cy="1013905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819096" y="1358064"/>
            <a:ext cx="2232365" cy="2270908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600388" y="2484639"/>
            <a:ext cx="1451074" cy="1144334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 flipH="1">
            <a:off x="5656887" y="1814819"/>
            <a:ext cx="1105433" cy="516361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 flipH="1">
            <a:off x="5656887" y="1701408"/>
            <a:ext cx="2443091" cy="629772"/>
          </a:xfrm>
          <a:prstGeom prst="line">
            <a:avLst/>
          </a:prstGeom>
          <a:noFill/>
          <a:ln w="9525">
            <a:solidFill>
              <a:srgbClr val="5A64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701937" y="2582386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604833" y="1800214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563812" y="2448063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496811" y="3367691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991635" y="2212139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099236" y="3126687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190671" y="1386935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725744" y="1778243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233167" y="1587892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906718" y="2400840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782520" y="1321488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014885" y="3592396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5620311" y="2294604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063402" y="1664832"/>
            <a:ext cx="82296" cy="82296"/>
          </a:xfrm>
          <a:prstGeom prst="rect">
            <a:avLst/>
          </a:prstGeom>
          <a:solidFill>
            <a:srgbClr val="7E88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502920" y="3977640"/>
            <a:ext cx="8138160" cy="960120"/>
          </a:xfrm>
          <a:prstGeom prst="rect">
            <a:avLst/>
          </a:prstGeom>
          <a:solidFill>
            <a:srgbClr val="232B33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77240" y="40690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codebase causes AI cognitive burnout.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interconnected web of shallow modules means the AI cannot confidently navigate, safely test, or receive rapid feedback loops on its changes.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Grey Box architectural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4937760" cy="3383280"/>
          </a:xfrm>
          <a:prstGeom prst="rect">
            <a:avLst/>
          </a:prstGeom>
          <a:solidFill>
            <a:srgbClr val="232B33"/>
          </a:solidFill>
          <a:ln w="31750">
            <a:solidFill>
              <a:srgbClr val="3FC1D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480560" cy="411480"/>
          </a:xfrm>
          <a:prstGeom prst="rect">
            <a:avLst/>
          </a:prstGeom>
          <a:solidFill>
            <a:srgbClr val="F2D7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Interface (Owned by Humans / Progressive Disclosure)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480560" cy="2514600"/>
          </a:xfrm>
          <a:prstGeom prst="rect">
            <a:avLst/>
          </a:prstGeom>
          <a:solidFill>
            <a:srgbClr val="1B232B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flipH="1">
            <a:off x="1445759" y="3021344"/>
            <a:ext cx="2449959" cy="665691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 flipH="1">
            <a:off x="3394970" y="2930832"/>
            <a:ext cx="1140504" cy="947229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 flipH="1">
            <a:off x="1445759" y="2433802"/>
            <a:ext cx="1159476" cy="1253232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flipH="1">
            <a:off x="1317545" y="1894253"/>
            <a:ext cx="660350" cy="938386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H="1">
            <a:off x="1363939" y="2433802"/>
            <a:ext cx="1241295" cy="939823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H="1">
            <a:off x="4122514" y="2930832"/>
            <a:ext cx="412960" cy="730060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H="1">
            <a:off x="1363939" y="2421054"/>
            <a:ext cx="927677" cy="952571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977895" y="1894253"/>
            <a:ext cx="1789126" cy="22623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315234" y="2096333"/>
            <a:ext cx="976382" cy="324721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H="1">
            <a:off x="3394970" y="3660892"/>
            <a:ext cx="727544" cy="217168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315234" y="2096333"/>
            <a:ext cx="2580483" cy="925011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 flipH="1">
            <a:off x="1317545" y="1916876"/>
            <a:ext cx="2449476" cy="915763"/>
          </a:xfrm>
          <a:prstGeom prst="line">
            <a:avLst/>
          </a:prstGeom>
          <a:noFill/>
          <a:ln w="9525">
            <a:solidFill>
              <a:srgbClr val="4A54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554480" y="2468880"/>
            <a:ext cx="2834640" cy="731520"/>
          </a:xfrm>
          <a:prstGeom prst="rect">
            <a:avLst/>
          </a:prstGeom>
          <a:solidFill>
            <a:srgbClr val="1B232B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55448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Implementation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(Delegated to AI)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Boundary Tests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100584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Modules: Lots of implementation controlled by a simple interface.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file system must match the mental map. Give each module its own folder with a clear public interface.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 design the interfaces and apply taste.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owns the grey box inside. Tests keep the agent honest.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plug-and-play tooling standard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2560320" cy="640080"/>
          </a:xfrm>
          <a:prstGeom prst="rect">
            <a:avLst/>
          </a:prstGeom>
          <a:solidFill>
            <a:srgbClr val="232B33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github_server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9320" y="1143000"/>
            <a:ext cx="2560320" cy="640080"/>
          </a:xfrm>
          <a:prstGeom prst="rect">
            <a:avLst/>
          </a:prstGeom>
          <a:solidFill>
            <a:srgbClr val="232B33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8932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local_postgres_db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063240"/>
            <a:ext cx="2560320" cy="640080"/>
          </a:xfrm>
          <a:prstGeom prst="rect">
            <a:avLst/>
          </a:prstGeom>
          <a:solidFill>
            <a:srgbClr val="232B33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email_integration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3063240"/>
            <a:ext cx="2560320" cy="640080"/>
          </a:xfrm>
          <a:prstGeom prst="rect">
            <a:avLst/>
          </a:prstGeom>
          <a:solidFill>
            <a:srgbClr val="232B33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8932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custom_enterprise_api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1463040"/>
            <a:ext cx="594360" cy="68580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H="1">
            <a:off x="5394960" y="1463040"/>
            <a:ext cx="594360" cy="68580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H="1">
            <a:off x="3154680" y="2788920"/>
            <a:ext cx="594360" cy="59436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394960" y="2788920"/>
            <a:ext cx="594360" cy="59436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11880" y="1920240"/>
            <a:ext cx="1920240" cy="9144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11880" y="1947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Harness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20440" y="2487168"/>
            <a:ext cx="2103120" cy="365760"/>
          </a:xfrm>
          <a:prstGeom prst="rect">
            <a:avLst/>
          </a:prstGeom>
          <a:solidFill>
            <a:srgbClr val="3FC1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520440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The USB-C of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8138160" cy="868680"/>
          </a:xfrm>
          <a:prstGeom prst="rect">
            <a:avLst/>
          </a:prstGeom>
          <a:solidFill>
            <a:srgbClr val="232B33"/>
          </a:solidFill>
          <a:ln w="1587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41422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connects user-facing applications to powerful external environments.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stateful servers to expose dynamic toolsets without hardcoding integrations directly into the harness itself.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immediate danger of context bloat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22860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77240" y="12070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claude code context --total-limit=200000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627632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148840"/>
            <a:ext cx="612648" cy="960120"/>
          </a:xfrm>
          <a:prstGeom prst="rect">
            <a:avLst/>
          </a:prstGeom>
          <a:solidFill>
            <a:srgbClr val="8A949C"/>
          </a:solidFill>
          <a:ln w="12700">
            <a:solidFill>
              <a:srgbClr val="1B23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612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B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&amp; Global Rules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344168" y="2148840"/>
            <a:ext cx="2304288" cy="960120"/>
          </a:xfrm>
          <a:prstGeom prst="rect">
            <a:avLst/>
          </a:prstGeom>
          <a:solidFill>
            <a:srgbClr val="F0716A"/>
          </a:solidFill>
          <a:ln w="12700">
            <a:solidFill>
              <a:srgbClr val="1B23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44168" y="214884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 Tools (Heavy Bloat)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48456" y="2148840"/>
            <a:ext cx="3072384" cy="960120"/>
          </a:xfrm>
          <a:prstGeom prst="rect">
            <a:avLst/>
          </a:prstGeom>
          <a:solidFill>
            <a:srgbClr val="3FC1D4"/>
          </a:solidFill>
          <a:ln w="12700">
            <a:solidFill>
              <a:srgbClr val="1B23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648456" y="214884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 Messages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20840" y="2148840"/>
            <a:ext cx="1691640" cy="960120"/>
          </a:xfrm>
          <a:prstGeom prst="rect">
            <a:avLst/>
          </a:prstGeom>
          <a:solidFill>
            <a:srgbClr val="F2D750"/>
          </a:solidFill>
          <a:ln w="12700">
            <a:solidFill>
              <a:srgbClr val="1B23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720840" y="21488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Space (Shrinking)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3337560"/>
            <a:ext cx="0" cy="457200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02920" y="3794760"/>
            <a:ext cx="3931920" cy="1051560"/>
          </a:xfrm>
          <a:prstGeom prst="rect">
            <a:avLst/>
          </a:prstGeom>
          <a:solidFill>
            <a:srgbClr val="232B33"/>
          </a:solidFill>
          <a:ln w="127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38862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Plugging in too many MCP servers or writing massive cursor rules rapidly consumes your 'Smart Zone'.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3794760"/>
            <a:ext cx="3931920" cy="1051560"/>
          </a:xfrm>
          <a:prstGeom prst="rect">
            <a:avLst/>
          </a:prstGeom>
          <a:solidFill>
            <a:srgbClr val="232B33"/>
          </a:solidFill>
          <a:ln w="127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892040" y="38862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Paranoia is healthy: a bloated context squeezes out working memory and triggers severe information retrieval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for managing context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the Smart Zone clear: spend tokens deliberately, not by default.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2344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3167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5564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Summarize-and-reset the session before headroom runs out. Wipe the slate, keep the gist.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12344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533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3167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 + handovers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92040" y="175564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work to fresh-context subagents; exchange information concisely via handover artifacts.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2560320"/>
            <a:ext cx="3977640" cy="12344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249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26883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models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5800" y="312724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large context genuinely matters, reach for frontier models with the biggest, most reliable windows.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560320"/>
            <a:ext cx="3977640" cy="123444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249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6883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/ graphify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92040" y="312724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codebase (retrieval or code graphs) so the agent pulls only relevant snippets, reducing context overhead.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2920" y="4023360"/>
            <a:ext cx="8183880" cy="86868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7939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down the problem space: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234440" y="4407408"/>
            <a:ext cx="1417320" cy="384048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123444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679192" y="4599432"/>
            <a:ext cx="356616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/>
          <p:cNvSpPr/>
          <p:nvPr/>
        </p:nvSpPr>
        <p:spPr>
          <a:xfrm>
            <a:off x="3063240" y="4407408"/>
            <a:ext cx="1417320" cy="384048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0"/>
          <p:cNvSpPr/>
          <p:nvPr/>
        </p:nvSpPr>
        <p:spPr>
          <a:xfrm>
            <a:off x="306324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07992" y="4599432"/>
            <a:ext cx="356616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4892040" y="4407408"/>
            <a:ext cx="1417320" cy="384048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3"/>
          <p:cNvSpPr/>
          <p:nvPr/>
        </p:nvSpPr>
        <p:spPr>
          <a:xfrm>
            <a:off x="489204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336792" y="4599432"/>
            <a:ext cx="356616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720840" y="4407408"/>
            <a:ext cx="1417320" cy="384048"/>
          </a:xfrm>
          <a:prstGeom prst="rect">
            <a:avLst/>
          </a:prstGeom>
          <a:solidFill>
            <a:srgbClr val="232B33"/>
          </a:solidFill>
          <a:ln w="1587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672084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93776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gets a focused context instead of one bloated session.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intentional compaction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the ENTIRE workflow around context management. Keep utilization in the 40-60% range.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468880" cy="20574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3350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codebase: the relevant files, how information flows, likely causes of the problem.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3383280"/>
            <a:ext cx="2103120" cy="365760"/>
          </a:xfrm>
          <a:prstGeom prst="rect">
            <a:avLst/>
          </a:prstGeom>
          <a:solidFill>
            <a:srgbClr val="232B33"/>
          </a:solidFill>
          <a:ln w="12700">
            <a:solidFill>
              <a:srgbClr val="3FC1D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research.md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17520" y="2194560"/>
            <a:ext cx="411480" cy="0"/>
          </a:xfrm>
          <a:prstGeom prst="line">
            <a:avLst/>
          </a:prstGeom>
          <a:noFill/>
          <a:ln w="22225">
            <a:solidFill>
              <a:srgbClr val="F2EFE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82880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1188720"/>
            <a:ext cx="2468880" cy="2057400"/>
          </a:xfrm>
          <a:prstGeom prst="rect">
            <a:avLst/>
          </a:prstGeom>
          <a:solidFill>
            <a:srgbClr val="1B232B"/>
          </a:solidFill>
          <a:ln w="2222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3533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33088" y="13350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657600" y="18288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steps and files to edit, with precise testing and verification steps for every phase.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0" y="3383280"/>
            <a:ext cx="2103120" cy="365760"/>
          </a:xfrm>
          <a:prstGeom prst="rect">
            <a:avLst/>
          </a:prstGeom>
          <a:solidFill>
            <a:srgbClr val="232B33"/>
          </a:solidFill>
          <a:ln w="12700">
            <a:solidFill>
              <a:srgbClr val="F2D75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2"/>
          <p:cNvSpPr/>
          <p:nvPr/>
        </p:nvSpPr>
        <p:spPr>
          <a:xfrm>
            <a:off x="365760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plan.md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89320" y="2194560"/>
            <a:ext cx="411480" cy="0"/>
          </a:xfrm>
          <a:prstGeom prst="line">
            <a:avLst/>
          </a:prstGeom>
          <a:noFill/>
          <a:ln w="22225">
            <a:solidFill>
              <a:srgbClr val="F2EFE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828800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46520" y="1188720"/>
            <a:ext cx="2468880" cy="2057400"/>
          </a:xfrm>
          <a:prstGeom prst="rect">
            <a:avLst/>
          </a:prstGeom>
          <a:solidFill>
            <a:srgbClr val="1B232B"/>
          </a:solidFill>
          <a:ln w="22225">
            <a:solidFill>
              <a:srgbClr val="F07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135331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04888" y="13350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629400" y="18288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phase by phase. Compact current status back into the plan after each phase is verified.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629400" y="3383280"/>
            <a:ext cx="2103120" cy="365760"/>
          </a:xfrm>
          <a:prstGeom prst="rect">
            <a:avLst/>
          </a:prstGeom>
          <a:solidFill>
            <a:srgbClr val="232B33"/>
          </a:solidFill>
          <a:ln w="12700">
            <a:solidFill>
              <a:srgbClr val="F0716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8"/>
          <p:cNvSpPr/>
          <p:nvPr/>
        </p:nvSpPr>
        <p:spPr>
          <a:xfrm>
            <a:off x="662940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+ updated plan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914400" y="406908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human review checkpoint. Each step starts a FRESH context window, seeded only by the compacted artifact from the step before.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8795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at the highest point of leverage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compound downstream. Spend scarce human attention where mistakes multiply.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685800"/>
          </a:xfrm>
          <a:prstGeom prst="rect">
            <a:avLst/>
          </a:prstGeom>
          <a:solidFill>
            <a:srgbClr val="F0716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bad line of RESEARCH</a:t>
            </a:r>
            <a:r>
              <a:rPr lang="en-US" sz="135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thousands of bad lines of code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6035040" cy="685800"/>
          </a:xfrm>
          <a:prstGeom prst="rect">
            <a:avLst/>
          </a:prstGeom>
          <a:solidFill>
            <a:srgbClr val="F2D7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bad line of PLAN</a:t>
            </a:r>
            <a:r>
              <a:rPr lang="en-US" sz="135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hundreds of bad lines of code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3931920" cy="685800"/>
          </a:xfrm>
          <a:prstGeom prst="rect">
            <a:avLst/>
          </a:prstGeom>
          <a:solidFill>
            <a:srgbClr val="3FC1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bad line of CODE</a:t>
            </a:r>
            <a:r>
              <a:rPr lang="en-US" sz="1350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one bad line of code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8138160" cy="73152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Reviewing research and plans gives more leverage than reviewing diffs. </a:t>
            </a:r>
            <a:r>
              <a:rPr lang="en-US" sz="12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the 200-line plan, not the 2,000-line PR.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 are the new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023360" cy="388620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ANTI-PATTERN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an agent for two hours, commit the final code, and throw the prompts away.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A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Java developer checking in the compiled JAR and deleting the source.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463040" cy="548640"/>
          </a:xfrm>
          <a:prstGeom prst="rect">
            <a:avLst/>
          </a:prstGeom>
          <a:solidFill>
            <a:srgbClr val="232B33"/>
          </a:solidFill>
          <a:ln w="1905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(source)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3246120"/>
            <a:ext cx="50292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011680" y="2670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2971800"/>
            <a:ext cx="1463040" cy="548640"/>
          </a:xfrm>
          <a:prstGeom prst="rect">
            <a:avLst/>
          </a:prstGeom>
          <a:solidFill>
            <a:srgbClr val="232B33"/>
          </a:solidFill>
          <a:ln w="1905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83464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(artifact)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source of truth: the research, specs, and plans that produced the code.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3931920" cy="3886200"/>
          </a:xfrm>
          <a:prstGeom prst="rect">
            <a:avLst/>
          </a:prstGeom>
          <a:solidFill>
            <a:srgbClr val="1B232B"/>
          </a:solidFill>
          <a:ln w="1587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WHY: MENTAL ALIGNMENT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review's most important job is keeping the team aligned on how the code is changing and why.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writes most of the code, far more of the codebase is unfamiliar to any given engineer.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read 2,000-line PRs every day. Anyone can read a 200-line plan.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docs become the speed-run for learning unfamiliar parts of the system.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Progressive disclosure and context pointers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from UI design: load only what the agent needs right now.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capabilities should be kept strictly out of the main context window until a context pointer pulls them in.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886200" y="1051560"/>
            <a:ext cx="1737360" cy="777240"/>
          </a:xfrm>
          <a:prstGeom prst="rect">
            <a:avLst/>
          </a:prstGeom>
          <a:solidFill>
            <a:srgbClr val="232B33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86200" y="1051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(The standing brief)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23560" y="1417320"/>
            <a:ext cx="777240" cy="0"/>
          </a:xfrm>
          <a:prstGeom prst="line">
            <a:avLst/>
          </a:prstGeom>
          <a:noFill/>
          <a:ln w="15875">
            <a:solidFill>
              <a:srgbClr val="3FC1D4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0" cy="502920"/>
          </a:xfrm>
          <a:prstGeom prst="line">
            <a:avLst/>
          </a:prstGeom>
          <a:noFill/>
          <a:ln w="15875">
            <a:solidFill>
              <a:srgbClr val="3FC1D4"/>
            </a:solidFill>
            <a:prstDash val="dash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486400" y="1920240"/>
            <a:ext cx="1920240" cy="384048"/>
          </a:xfrm>
          <a:prstGeom prst="rect">
            <a:avLst/>
          </a:prstGeom>
          <a:solidFill>
            <a:srgbClr val="1B232B"/>
          </a:solidFill>
          <a:ln w="1905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Pointer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2304288"/>
            <a:ext cx="1920240" cy="685800"/>
          </a:xfrm>
          <a:prstGeom prst="rect">
            <a:avLst/>
          </a:prstGeom>
          <a:solidFill>
            <a:srgbClr val="1B232B"/>
          </a:solidFill>
          <a:ln w="1905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0" y="23042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UI standards,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@ui-skills.md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651760"/>
            <a:ext cx="502920" cy="0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909560" y="2651760"/>
            <a:ext cx="0" cy="594360"/>
          </a:xfrm>
          <a:prstGeom prst="line">
            <a:avLst/>
          </a:prstGeom>
          <a:noFill/>
          <a:ln w="15875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720840" y="3246120"/>
            <a:ext cx="1920240" cy="1325880"/>
          </a:xfrm>
          <a:prstGeom prst="rect">
            <a:avLst/>
          </a:prstGeom>
          <a:solidFill>
            <a:srgbClr val="232B33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72084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Skill/Document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21000000">
            <a:off x="6903720" y="3749040"/>
            <a:ext cx="1554480" cy="640080"/>
          </a:xfrm>
          <a:prstGeom prst="rect">
            <a:avLst/>
          </a:prstGeom>
          <a:solidFill>
            <a:srgbClr val="1B232B"/>
          </a:solidFill>
          <a:ln w="127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 rot="21000000">
            <a:off x="690372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ONLY when requested by the task.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skills: the loading cascade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skill is progressive disclosure in miniature -- three levels, each loaded only when earned.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011680" cy="4572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1600200"/>
            <a:ext cx="640080" cy="320040"/>
          </a:xfrm>
          <a:prstGeom prst="line">
            <a:avLst/>
          </a:prstGeom>
          <a:noFill/>
          <a:ln w="19050">
            <a:solidFill>
              <a:srgbClr val="F2EFE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897880" y="1371600"/>
            <a:ext cx="228600" cy="0"/>
          </a:xfrm>
          <a:prstGeom prst="line">
            <a:avLst/>
          </a:prstGeom>
          <a:noFill/>
          <a:ln w="127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217920" y="10698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available skills and decides which one matches the task.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920240"/>
            <a:ext cx="2011680" cy="457200"/>
          </a:xfrm>
          <a:prstGeom prst="rect">
            <a:avLst/>
          </a:prstGeom>
          <a:solidFill>
            <a:srgbClr val="1B232B"/>
          </a:solidFill>
          <a:ln w="2222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DESCRIPTION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in context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0" y="2377440"/>
            <a:ext cx="640080" cy="320040"/>
          </a:xfrm>
          <a:prstGeom prst="line">
            <a:avLst/>
          </a:prstGeom>
          <a:noFill/>
          <a:ln w="19050">
            <a:solidFill>
              <a:srgbClr val="F2EFE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897880" y="2148840"/>
            <a:ext cx="22860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17920" y="1847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dozen tokens. Its only job is to trigger reliably -- write it for matching, not for teaching.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697480"/>
            <a:ext cx="2011680" cy="457200"/>
          </a:xfrm>
          <a:prstGeom prst="rect">
            <a:avLst/>
          </a:prstGeom>
          <a:solidFill>
            <a:srgbClr val="1B232B"/>
          </a:solidFill>
          <a:ln w="2222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65176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172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on trigger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69080" y="3154680"/>
            <a:ext cx="640080" cy="320040"/>
          </a:xfrm>
          <a:prstGeom prst="line">
            <a:avLst/>
          </a:prstGeom>
          <a:noFill/>
          <a:ln w="19050">
            <a:solidFill>
              <a:srgbClr val="F2EFE6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897880" y="2926080"/>
            <a:ext cx="228600" cy="0"/>
          </a:xfrm>
          <a:prstGeom prst="line">
            <a:avLst/>
          </a:prstGeom>
          <a:noFill/>
          <a:ln w="127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17920" y="26243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lean playbook: workflow, constraints, and pointers. Keep it short -- it pays full context rent once loaded.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3320" y="3474720"/>
            <a:ext cx="2011680" cy="4572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0332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on demand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97880" y="3703320"/>
            <a:ext cx="228600" cy="0"/>
          </a:xfrm>
          <a:prstGeom prst="line">
            <a:avLst/>
          </a:prstGeom>
          <a:noFill/>
          <a:ln w="127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217920" y="3401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detail (schemas, examples, edge cases) pulled in only when a step needs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343400"/>
            <a:ext cx="5029200" cy="54864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40080" y="437997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sells, SKILL.md instructs, references inform.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Establishing boundaries of trust and review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417320" y="777240"/>
            <a:ext cx="0" cy="3429000"/>
          </a:xfrm>
          <a:prstGeom prst="line">
            <a:avLst/>
          </a:prstGeom>
          <a:noFill/>
          <a:ln w="19050">
            <a:solidFill>
              <a:srgbClr val="9AA4AC"/>
            </a:solidFill>
            <a:prstDash val="solid"/>
            <a:head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417320" y="4206240"/>
            <a:ext cx="6949440" cy="0"/>
          </a:xfrm>
          <a:prstGeom prst="line">
            <a:avLst/>
          </a:prstGeom>
          <a:noFill/>
          <a:ln w="19050">
            <a:solidFill>
              <a:srgbClr val="9AA4AC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 rot="16200000">
            <a:off x="457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Involvement (Low to High)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7320" y="4315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Determinism (Low to High)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841248"/>
            <a:ext cx="3291840" cy="1591056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56232" y="9326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Review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56232" y="12984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agent reviewing another's code using a different system prompt. Non-deterministic judgment.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66360" y="841248"/>
            <a:ext cx="3291840" cy="1591056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30952" y="9326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30952" y="12984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pairing, reviewing, and redirecting. High trust via manual oversight.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91640" y="2542032"/>
            <a:ext cx="3291840" cy="1591056"/>
          </a:xfrm>
          <a:prstGeom prst="rect">
            <a:avLst/>
          </a:prstGeom>
          <a:solidFill>
            <a:srgbClr val="1B232B"/>
          </a:solidFill>
          <a:ln w="22225">
            <a:solidFill>
              <a:srgbClr val="F07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856232" y="2633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 Coding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56232" y="299923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Accepting AI output without human review of the diff. Requires flawless Grey Box boundaries.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542032"/>
            <a:ext cx="3291840" cy="1591056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30952" y="2633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AFK (Away From Keyboard)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0952" y="299923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Unattended execution bound by strict deterministic automated checks (tests, lints).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working pattern based on the maturity of your feedback loops and the depth of your modules.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away the buzzwords: It's all prompt engineering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RAG:</a:t>
            </a: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 external info -&gt; Insert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03504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537960" y="1481328"/>
            <a:ext cx="0" cy="41148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537960" y="1892808"/>
            <a:ext cx="41148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Calling:</a:t>
            </a: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Provide action menu -&gt; Model selects -&gt; Execute -&gt; Insert 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603504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537960" y="2103120"/>
            <a:ext cx="0" cy="9144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537960" y="2112264"/>
            <a:ext cx="41148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Outputs:</a:t>
            </a: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 specific JSON shape -&gt; Insert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603504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37960" y="2331720"/>
            <a:ext cx="0" cy="393192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37960" y="2331720"/>
            <a:ext cx="41148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28254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Workflows:</a:t>
            </a: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Multi-step chained prompts with hard-coded stopping points.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46704"/>
            <a:ext cx="603504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537960" y="2551176"/>
            <a:ext cx="0" cy="795528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37960" y="2551176"/>
            <a:ext cx="41148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20" y="34472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Loops:</a:t>
            </a: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Tools + Prompts where the LLM dynamically decides when to halt.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603504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537960" y="2770632"/>
            <a:ext cx="0" cy="1197864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537960" y="2770632"/>
            <a:ext cx="411480" cy="0"/>
          </a:xfrm>
          <a:prstGeom prst="line">
            <a:avLst/>
          </a:prstGeom>
          <a:noFill/>
          <a:ln w="19050">
            <a:solidFill>
              <a:srgbClr val="3FC1D4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949440" y="1645920"/>
            <a:ext cx="1737360" cy="1554480"/>
          </a:xfrm>
          <a:prstGeom prst="rect">
            <a:avLst/>
          </a:prstGeom>
          <a:solidFill>
            <a:srgbClr val="F2D7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49440" y="16459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3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Beneath the hype, every advanced architecture is fundamentally just an improved technique for structuring text input to a stateless model.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staircase to optimization hell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0" cy="3566160"/>
          </a:xfrm>
          <a:prstGeom prst="line">
            <a:avLst/>
          </a:prstGeom>
          <a:noFill/>
          <a:ln w="19050">
            <a:solidFill>
              <a:srgbClr val="F2EFE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 rot="16200000">
            <a:off x="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&amp; Cost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1051560"/>
            <a:ext cx="822960" cy="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74520" y="1051560"/>
            <a:ext cx="0" cy="50292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984248" y="960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74520" y="1554480"/>
            <a:ext cx="822960" cy="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697480" y="1554480"/>
            <a:ext cx="0" cy="50292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07208" y="1463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97480" y="2057400"/>
            <a:ext cx="822960" cy="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20440" y="2057400"/>
            <a:ext cx="0" cy="502920"/>
          </a:xfrm>
          <a:prstGeom prst="line">
            <a:avLst/>
          </a:prstGeom>
          <a:noFill/>
          <a:ln w="5080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30168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of Thought / Temperature tweaking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20440" y="2560320"/>
            <a:ext cx="822960" cy="0"/>
          </a:xfrm>
          <a:prstGeom prst="line">
            <a:avLst/>
          </a:prstGeom>
          <a:noFill/>
          <a:ln w="508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343400" y="2560320"/>
            <a:ext cx="0" cy="502920"/>
          </a:xfrm>
          <a:prstGeom prst="line">
            <a:avLst/>
          </a:prstGeom>
          <a:noFill/>
          <a:ln w="508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453128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3063240"/>
            <a:ext cx="822960" cy="0"/>
          </a:xfrm>
          <a:prstGeom prst="line">
            <a:avLst/>
          </a:prstGeom>
          <a:noFill/>
          <a:ln w="508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166360" y="3063240"/>
            <a:ext cx="0" cy="502920"/>
          </a:xfrm>
          <a:prstGeom prst="line">
            <a:avLst/>
          </a:prstGeom>
          <a:noFill/>
          <a:ln w="508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76088" y="2971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Evaluators / Agentic Loops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66360" y="3566160"/>
            <a:ext cx="822960" cy="0"/>
          </a:xfrm>
          <a:prstGeom prst="line">
            <a:avLst/>
          </a:prstGeom>
          <a:noFill/>
          <a:ln w="508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0" cy="502920"/>
          </a:xfrm>
          <a:prstGeom prst="line">
            <a:avLst/>
          </a:prstGeom>
          <a:noFill/>
          <a:ln w="50800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99048" y="347472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Routers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4069080"/>
            <a:ext cx="822960" cy="0"/>
          </a:xfrm>
          <a:prstGeom prst="line">
            <a:avLst/>
          </a:prstGeom>
          <a:noFill/>
          <a:ln w="50800">
            <a:solidFill>
              <a:srgbClr val="F07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22008" y="39776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Fine-Tuning &amp; Advanced Sampling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1560" y="2880360"/>
            <a:ext cx="3291840" cy="1965960"/>
          </a:xfrm>
          <a:prstGeom prst="rect">
            <a:avLst/>
          </a:prstGeom>
          <a:solidFill>
            <a:srgbClr val="1B232B"/>
          </a:solidFill>
          <a:ln w="12700">
            <a:solidFill>
              <a:srgbClr val="9A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234440" y="3017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 a new feature? Start at the top step.</a:t>
            </a:r>
            <a:endParaRPr lang="en-US" sz="10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engineering is experimental and probabilistic. Most experiments fail.</a:t>
            </a:r>
            <a:endParaRPr lang="en-US" sz="10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descend to fine-tuning until basic contextual framing has been exhausted.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 are the new unit tests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691640" y="1097280"/>
            <a:ext cx="1554480" cy="6858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91640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Prompt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Model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1463040" cy="6858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0" y="2331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91640" y="3611880"/>
            <a:ext cx="1554480" cy="685800"/>
          </a:xfrm>
          <a:prstGeom prst="rect">
            <a:avLst/>
          </a:prstGeom>
          <a:solidFill>
            <a:srgbClr val="1B232B"/>
          </a:solidFill>
          <a:ln w="22225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6916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Usage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1371600" cy="685800"/>
          </a:xfrm>
          <a:prstGeom prst="rect">
            <a:avLst/>
          </a:prstGeom>
          <a:solidFill>
            <a:srgbClr val="1B232B"/>
          </a:solidFill>
          <a:ln w="22225">
            <a:solidFill>
              <a:srgbClr val="F2D7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D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17520" y="1737360"/>
            <a:ext cx="822960" cy="548640"/>
          </a:xfrm>
          <a:prstGeom prst="line">
            <a:avLst/>
          </a:prstGeom>
          <a:noFill/>
          <a:ln w="38100">
            <a:solidFill>
              <a:srgbClr val="3FC1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H="1">
            <a:off x="2834640" y="3063240"/>
            <a:ext cx="822960" cy="502920"/>
          </a:xfrm>
          <a:prstGeom prst="line">
            <a:avLst/>
          </a:prstGeom>
          <a:noFill/>
          <a:ln w="38100">
            <a:solidFill>
              <a:srgbClr val="3FC1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H="1" flipV="1">
            <a:off x="1188720" y="3063240"/>
            <a:ext cx="640080" cy="594360"/>
          </a:xfrm>
          <a:prstGeom prst="line">
            <a:avLst/>
          </a:prstGeom>
          <a:noFill/>
          <a:ln w="38100">
            <a:solidFill>
              <a:srgbClr val="3FC1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flipV="1">
            <a:off x="1188720" y="1783080"/>
            <a:ext cx="731520" cy="502920"/>
          </a:xfrm>
          <a:prstGeom prst="line">
            <a:avLst/>
          </a:prstGeom>
          <a:noFill/>
          <a:ln w="38100">
            <a:solidFill>
              <a:srgbClr val="3FC1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37744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20640" y="13258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first version of every AI app sucks.</a:t>
            </a:r>
            <a:endParaRPr lang="en-US" sz="1350" dirty="0"/>
          </a:p>
          <a:p>
            <a:pPr marL="342900" indent="-342900" algn="l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deterministic evaluation loops, you are flying blind against attention degradation and model drift.</a:t>
            </a:r>
            <a:endParaRPr lang="en-US" sz="1350" dirty="0"/>
          </a:p>
          <a:p>
            <a:pPr marL="342900" indent="-342900" algn="l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can't measure it programmatically, you haven't engineered it.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today. It is not magic.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engineering is about getting the most out of TODAY's models -- not waiting for smarter ones.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023360" cy="3657600"/>
          </a:xfrm>
          <a:prstGeom prst="rect">
            <a:avLst/>
          </a:prstGeom>
          <a:solidFill>
            <a:srgbClr val="1B232B"/>
          </a:solidFill>
          <a:ln w="19050">
            <a:solidFill>
              <a:srgbClr val="3FC1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C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RESULTS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566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Rust amateur fixed and merged a bug in a 300k LOC codebase within hours of first contact.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 LOC shipped in 7 hours (cancellation + WASM support) -- estimated at 3-5 senior-engineer days each.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 shipped 2 PRs on day one and 10 on day eight.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31920" cy="3657600"/>
          </a:xfrm>
          <a:prstGeom prst="rect">
            <a:avLst/>
          </a:prstGeom>
          <a:solidFill>
            <a:srgbClr val="1B232B"/>
          </a:solidFill>
          <a:ln w="19050">
            <a:solidFill>
              <a:srgbClr val="F07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HARD-WON CAVEATS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magic prompt. Hours of deep engagement are required -- bad research must be caught and thrown out.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at least one person who is an expert in the codebase.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still rabbit-hole: shallow research through a deep dependency tree sinks the whole pipeline.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2003</Words>
  <Application>Microsoft Office PowerPoint</Application>
  <PresentationFormat>On-screen Show (16:9)</PresentationFormat>
  <Paragraphs>271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Coding Operator's Manual</dc:title>
  <dc:subject>PptxGenJS Presentation</dc:subject>
  <dc:creator>PptxGenJS</dc:creator>
  <cp:lastModifiedBy>Ed Yau</cp:lastModifiedBy>
  <cp:revision>2</cp:revision>
  <dcterms:created xsi:type="dcterms:W3CDTF">2026-06-07T15:43:26Z</dcterms:created>
  <dcterms:modified xsi:type="dcterms:W3CDTF">2026-06-07T15:46:39Z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867cdc-6a55-42b7-b43e-9ab0af6221ff_Enabled">
    <vt:lpwstr>true</vt:lpwstr>
  </property>
  <property fmtid="{D5CDD505-2E9C-101B-9397-08002B2CF9AE}" pid="3" name="MSIP_Label_f6867cdc-6a55-42b7-b43e-9ab0af6221ff_SetDate">
    <vt:lpwstr>2026-06-07T15:46:37Z</vt:lpwstr>
  </property>
  <property fmtid="{D5CDD505-2E9C-101B-9397-08002B2CF9AE}" pid="4" name="MSIP_Label_f6867cdc-6a55-42b7-b43e-9ab0af6221ff_Method">
    <vt:lpwstr>Standard</vt:lpwstr>
  </property>
  <property fmtid="{D5CDD505-2E9C-101B-9397-08002B2CF9AE}" pid="5" name="MSIP_Label_f6867cdc-6a55-42b7-b43e-9ab0af6221ff_Name">
    <vt:lpwstr>General</vt:lpwstr>
  </property>
  <property fmtid="{D5CDD505-2E9C-101B-9397-08002B2CF9AE}" pid="6" name="MSIP_Label_f6867cdc-6a55-42b7-b43e-9ab0af6221ff_SiteId">
    <vt:lpwstr>741678da-616a-4cd9-a82b-b5b4cf804f44</vt:lpwstr>
  </property>
  <property fmtid="{D5CDD505-2E9C-101B-9397-08002B2CF9AE}" pid="7" name="MSIP_Label_f6867cdc-6a55-42b7-b43e-9ab0af6221ff_ActionId">
    <vt:lpwstr>d1416bd9-0af1-46b8-88a9-ba05c31130d1</vt:lpwstr>
  </property>
  <property fmtid="{D5CDD505-2E9C-101B-9397-08002B2CF9AE}" pid="8" name="MSIP_Label_f6867cdc-6a55-42b7-b43e-9ab0af6221ff_ContentBits">
    <vt:lpwstr>0</vt:lpwstr>
  </property>
  <property fmtid="{D5CDD505-2E9C-101B-9397-08002B2CF9AE}" pid="9" name="MSIP_Label_f6867cdc-6a55-42b7-b43e-9ab0af6221ff_Tag">
    <vt:lpwstr>10, 3, 0, 1</vt:lpwstr>
  </property>
</Properties>
</file>